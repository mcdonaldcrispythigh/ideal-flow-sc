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7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48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afternoon. Today we're presenting our project on ideal fluid flow in a polygonal domain using the Schwarz–Christoffel transformation. The core idea is that conformal maps let us transplant a hard PDE problem on an irregular shape into a canonical domain where it's already solved. Sophia will walk through the mathematical framework, and I'll take over to explain how we actually compute everything numerically for Boulder County.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Sophia Arany</a:t>
            </a:r>
          </a:p>
          <a:p>
            <a:endParaRPr lang="zh-CN" dirty="0"/>
          </a:p>
          <a:p>
            <a:r>
              <a:rPr lang="zh-CN" dirty="0"/>
              <a:t>The starting point is deceptively simple: we want to model ideal fluid flow — think wind or groundwater — inside a region shaped like Boulder County. The problem is that Laplace's equation has no closed-form solution on an irregular polygon. The Schwarz–Christoffel map is the key: it gives us an explicit conformal map from the upper half-plane ℍ to our polygon Ω. Once we have that map, any analytic complex potential W(ζ) in ℍ — which we can write down immediately — pulls back to give a valid flow in Ω. No approximation, no finite elements. The four-step pipeline on the right summarises the whole project.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Sophia Arany</a:t>
            </a:r>
          </a:p>
          <a:p>
            <a:endParaRPr lang="zh-CN" dirty="0"/>
          </a:p>
          <a:p>
            <a:r>
              <a:rPr lang="zh-CN" dirty="0"/>
              <a:t>Let me set up the flow theory. Ideal flow is irrotational and incompressible: the velocity field is a gradient, which satisfies Laplace's equation, and the divergence is zero. This means we can encode both the velocity potential φ and the stream function ψ into a single analytic function W(z) = φ + iψ. The beauty is that streamlines are exactly the level curves of ψ — and the no-penetration condition at the boundary reduces to ψ = const on ∂Ω. The Cauchy–Riemann equations guarantee that streamlines and equipotentials meet at right angles everywhere the derivative is non-zero.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Sophia Arany</a:t>
            </a:r>
          </a:p>
          <a:p>
            <a:endParaRPr lang="zh-CN" dirty="0"/>
          </a:p>
          <a:p>
            <a:r>
              <a:rPr lang="zh-CN" dirty="0"/>
              <a:t>The Schwarz–Christoffel formula tells us explicitly how to build the conformal map. The integrand is a product of factors (t − ζk)^(αk − 1), where each ζk is a pre-vertex on the real axis mapping to a polygon vertex, and αk is the interior angle at that vertex measured in units of π. Three degrees of freedom are fixed by Möbius invariance — we pin ζ₀ = −1, ζ₁ = 0, ζn−1 = 1 — leaving n − 3 free pre-vertices to be determined. The constants A and C control the position and scale of the polygon. This is the formula everything else depends 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Sophia Arany</a:t>
            </a:r>
          </a:p>
          <a:p>
            <a:endParaRPr lang="zh-CN" dirty="0"/>
          </a:p>
          <a:p>
            <a:r>
              <a:rPr lang="zh-CN" dirty="0"/>
              <a:t>Now suppose we want to add an obstacle — say, a circular region modelling downtown Boulder — inside Ω. We need the streamfunction to be constant both on ∂Ω and on the circle boundary ∂D. We handle this in two steps. First, the method of images: to enforce Im W = 0 on the real axis ∂ℍ, we pair each singularity at s ∈ ℍ with its complex conjugate mirror. Second, the Milne-Thomson circle theorem from 1940 says that given any analytic potential W₀ outside a disk, the modified potential W^ext automatically makes the circle a streamline. Combining these for uniform flow gives the urban potential shown at the bottom — a clean closed-form expression.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Sophia Arany</a:t>
            </a:r>
          </a:p>
          <a:p>
            <a:endParaRPr lang="zh-CN" dirty="0"/>
          </a:p>
          <a:p>
            <a:r>
              <a:rPr lang="zh-CN" dirty="0"/>
              <a:t>Here are the results for uniform flow W = Uζ pulled back through the SC map into the Boulder County polygon. On the left, streamlines ψ = const stay strictly inside ∂Ω — this is not an approximation, it's exact by construction, because the SC map sends the real axis to the polygon boundary. The closed appearance of the streamlines is a topological consequence of mapping ℍ to a bounded region. On the right, the conformal grid of streamlines and equipotentials confirms orthogonality throughout the interior — a definitive visual proof that the map is conformal wherever f′(ζ) ≠ 0. I'll now hand over to Congyuan, who will explain how we actually compute the SC map numerically.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Thanks Sophia. Before I describe the algorithm, I need to explain why a numerical approach is necessary at all. If you try to apply the SC formula to a polygon with very unequal edge lengths, you run into what's called the crowding phenomenon: the pre-vertices {ζk} cluster exponentially on the real axis. The spacing decays like 8 e^(−πL/2) where L is the aspect ratio. By L ≈ 7, you're already below double-precision — the parameter problem becomes numerically ill-posed. This isn't a numerical artifact; it's a rigid complex-analytic invariant called the conformal modulus. The practical consequence is that Boulder County's 2752-vertex boundary absolutely must be simplified to a small polygon with controlled angles.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The preprocessing pipeline has two stages. First, Douglas–Peucker simplification with an adaptive tolerance reduces the 2752-vertex TIGER/Line boundary down to 14 vertices. Second, we apply an interior angle filter: any vertex whose angle falls outside [0.35π, 1.75π] is removed, leaving n = 12. The lower bound 0.35π avoids very sharp corners that would cause severe crowding; the upper bound 1.75π excludes near-reflex angles. The polygon is then normalised to O(1) scale and centred at the origin. The figure compares the raw and simplified boundaries — the dominant geometric features are preserved.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With a 12-vertex polygon we need to find 9 free pre-vertices. The three-step algorithm works as follows. First, softmax reparameterisation maps unconstrained parameters p ∈ ℝ⁹ to pre-vertices automatically satisfying ordering and box constraints — no projection or clamping needed during optimisation. Second, Gauss–Legendre quadrature with N = 500 nodes evaluates each SC side-length integral as a single vectorised dot product; nodes and weights are precomputed once and reused across iterations. Third, the Levenberg–Marquardt solver from SciPy minimises the side-length ratio residuals. The L-shaped integration path shown on the right keeps both legs strictly above the real axis, so neither leg ever crosses a branch cut from any pre-vertex.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How do we know the solver is correct? We test it on a rectangle with aspect ratio m = 2, where the exact pre-vertex position is s = 2√2/3 ≈ 0.94281, derivable analytically from elliptic integrals. Our solver recovers s ≈ 0.94296, an absolute error of 1.5 × 10⁻⁴ and a final residual ‖r‖ ≈ 7 × 10⁻⁵. The residual floor is set by the O(N⁻¹) accuracy of Gauss–Legendre quadrature near the branch-point endpoints. Applying Duffy's substitution or endpoint subtraction would push this to near-machine precision, but for our 12-vertex polygon the current accuracy is more than sufficient.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With the SC map in hand, we apply the urban flow potential. Downtown Boulder is modelled as the minimum-enclosing circle in ℍ. The streamlines on the left deflect around the obstacle and remain inside ∂Ω — both boundary conditions are enforced exactly by the method of images and Milne-Thomson theorem, with zero per-point Newton iterations. The right panel shows the pre-vertex positions overlaid on the polygon: the clustering on the western flank reflects the long western edge of Boulder County, exactly as the crowding analysis predicted. The approximation error is O((a/Im ζ₀)²), small for our obstacle size.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Speaker: Congyuan Zheng</a:t>
            </a:r>
          </a:p>
          <a:p>
            <a:endParaRPr lang="zh-CN" dirty="0"/>
          </a:p>
          <a:p>
            <a:r>
              <a:rPr lang="zh-CN" dirty="0"/>
              <a:t>To summarise: the SC map converts Laplace's equation on the Boulder County polygon into an analytically solved problem in ℍ. Our numerical pipeline — softmax + Gauss–Legendre + Levenberg–Marquardt — recovers all 12 pre-vertices in under a second with residual 7 × 10⁻⁵. Uniform flow confirms conformality via orthogonal gridlines. Milne-Thomson adds an urban obstacle with two boundary conditions satisfied simultaneously. Two directions for future work: Duffy substitution for near-machine-precision quadrature, and the Schottky–Klein prime function approach for an exact doubly-connected SC map that removes the small-obstacle approximation entirely.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1762125"/>
          </a:xfrm>
          <a:prstGeom prst="rect">
            <a:avLst/>
          </a:prstGeom>
          <a:gradFill>
            <a:gsLst>
              <a:gs pos="0">
                <a:srgbClr val="1B3A6B"/>
              </a:gs>
              <a:gs pos="100000">
                <a:srgbClr val="2471A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1724025"/>
            <a:ext cx="121920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0344150" y="371475"/>
            <a:ext cx="115231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0" b="1" dirty="0">
                <a:solidFill>
                  <a:srgbClr val="FAFAF8">
                    <a:alpha val="8000"/>
                  </a:srgbClr>
                </a:solidFill>
                <a:latin typeface="Georgia"/>
                <a:ea typeface="SimSun"/>
                <a:cs typeface="Georgia"/>
              </a:rPr>
              <a:t>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408" y="548164"/>
            <a:ext cx="54512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AFAF8">
                    <a:alpha val="85000"/>
                  </a:srgbClr>
                </a:solidFill>
                <a:latin typeface="Georgia"/>
                <a:ea typeface="SimSun"/>
                <a:cs typeface="Georgia"/>
              </a:rPr>
              <a:t>APPM 4360 — Complex Variables and Applications, Spring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312" y="869156"/>
            <a:ext cx="4037965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125" dirty="0">
                <a:solidFill>
                  <a:srgbClr val="FAFAF8">
                    <a:alpha val="55000"/>
                  </a:srgbClr>
                </a:solidFill>
                <a:latin typeface="Times New Roman"/>
                <a:ea typeface="SimSun"/>
                <a:cs typeface="Times New Roman"/>
              </a:rPr>
              <a:t>Department of Applied Mathematics</a:t>
            </a:r>
            <a:r>
              <a:rPr lang="en-US" altLang="zh-CN" sz="1125" dirty="0">
                <a:solidFill>
                  <a:srgbClr val="FAFAF8">
                    <a:alpha val="55000"/>
                  </a:srgbClr>
                </a:solidFill>
                <a:latin typeface="Times New Roman"/>
                <a:ea typeface="SimSun"/>
                <a:cs typeface="Times New Roman"/>
              </a:rPr>
              <a:t>, </a:t>
            </a:r>
            <a:r>
              <a:rPr lang="zh-CN" altLang="ja-JP" sz="1125" dirty="0">
                <a:solidFill>
                  <a:srgbClr val="FAFAF8">
                    <a:alpha val="55000"/>
                  </a:srgbClr>
                </a:solidFill>
                <a:latin typeface="Times New Roman"/>
                <a:ea typeface="SimSun"/>
                <a:cs typeface="Times New Roman"/>
              </a:rPr>
              <a:t>University of Colorado Boulder </a:t>
            </a:r>
            <a:endParaRPr lang="zh-CN" sz="1125" dirty="0">
              <a:solidFill>
                <a:srgbClr val="FAFAF8">
                  <a:alpha val="55000"/>
                </a:srgbClr>
              </a:solidFill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Line 8"/>
          <p:cNvSpPr/>
          <p:nvPr/>
        </p:nvSpPr>
        <p:spPr>
          <a:xfrm>
            <a:off x="609600" y="1123950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/>
          <a:ln w="9525">
            <a:solidFill>
              <a:srgbClr val="FAFAF8">
                <a:alpha val="20000"/>
              </a:srgbClr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98364" y="2284095"/>
            <a:ext cx="1059527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Ideal Fluid Flow in a Polygonal Domain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3317" y="3023235"/>
            <a:ext cx="864536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2471A3"/>
                </a:solidFill>
                <a:latin typeface="Georgia"/>
                <a:ea typeface="SimSun"/>
                <a:cs typeface="Georgia"/>
              </a:rPr>
              <a:t>via the Schwarz–Christoffel Transformation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77973" y="3866198"/>
            <a:ext cx="423605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2C3E50"/>
                </a:solidFill>
                <a:latin typeface="Georgia"/>
                <a:ea typeface="SimSun"/>
                <a:cs typeface="Georgia"/>
              </a:rPr>
              <a:t>Congyuan Zheng · Sophia Arany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0379" y="4331018"/>
            <a:ext cx="65112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Department of Applied Mathematics, University of Colorado Boulder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55991" y="4701064"/>
            <a:ext cx="128001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April 27, 2026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id="{F399C2BC-F5F9-CB70-4CAE-5F3661A3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883" y="214175"/>
            <a:ext cx="1152638" cy="11106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425" y="242888"/>
            <a:ext cx="65267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From Polygon to Flow: The SC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385" y="38052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776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2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047750"/>
            <a:ext cx="4762500" cy="1333500"/>
          </a:xfrm>
          <a:custGeom>
            <a:avLst/>
            <a:gdLst/>
            <a:ahLst/>
            <a:cxnLst/>
            <a:rect l="l" t="t" r="r" b="b"/>
            <a:pathLst>
              <a:path w="4762500" h="13335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257300"/>
                </a:lnTo>
                <a:cubicBezTo>
                  <a:pt x="4762500" y="1299384"/>
                  <a:pt x="4728384" y="1333500"/>
                  <a:pt x="46863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571500" y="1047750"/>
            <a:ext cx="47625" cy="1333500"/>
          </a:xfrm>
          <a:custGeom>
            <a:avLst/>
            <a:gdLst/>
            <a:ahLst/>
            <a:cxnLst/>
            <a:rect l="l" t="t" r="r" b="b"/>
            <a:pathLst>
              <a:path w="47625" h="13335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314450"/>
                </a:lnTo>
                <a:cubicBezTo>
                  <a:pt x="47625" y="1324971"/>
                  <a:pt x="39096" y="1333500"/>
                  <a:pt x="28575" y="1333500"/>
                </a:cubicBezTo>
                <a:lnTo>
                  <a:pt x="19050" y="1333500"/>
                </a:lnTo>
                <a:cubicBezTo>
                  <a:pt x="8529" y="1333500"/>
                  <a:pt x="0" y="1324971"/>
                  <a:pt x="0" y="1314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02958" y="1214914"/>
            <a:ext cx="11566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The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005" y="1492568"/>
            <a:ext cx="38790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Laplace's equation ∇²φ = 0 governs ideal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005" y="1721168"/>
            <a:ext cx="4549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fluid flow — but has no elementary closed-form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005" y="19497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solution on an arbitrary polygon Ω.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2571750"/>
            <a:ext cx="4762500" cy="1333500"/>
          </a:xfrm>
          <a:custGeom>
            <a:avLst/>
            <a:gdLst/>
            <a:ahLst/>
            <a:cxnLst/>
            <a:rect l="l" t="t" r="r" b="b"/>
            <a:pathLst>
              <a:path w="4762500" h="13335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257300"/>
                </a:lnTo>
                <a:cubicBezTo>
                  <a:pt x="4762500" y="1299384"/>
                  <a:pt x="4728384" y="1333500"/>
                  <a:pt x="46863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Freeform 16"/>
          <p:cNvSpPr/>
          <p:nvPr/>
        </p:nvSpPr>
        <p:spPr>
          <a:xfrm>
            <a:off x="571500" y="2571750"/>
            <a:ext cx="47625" cy="1333500"/>
          </a:xfrm>
          <a:custGeom>
            <a:avLst/>
            <a:gdLst/>
            <a:ahLst/>
            <a:cxnLst/>
            <a:rect l="l" t="t" r="r" b="b"/>
            <a:pathLst>
              <a:path w="47625" h="13335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314450"/>
                </a:lnTo>
                <a:cubicBezTo>
                  <a:pt x="47625" y="1324971"/>
                  <a:pt x="39096" y="1333500"/>
                  <a:pt x="28575" y="1333500"/>
                </a:cubicBezTo>
                <a:lnTo>
                  <a:pt x="19050" y="1333500"/>
                </a:lnTo>
                <a:cubicBezTo>
                  <a:pt x="8529" y="1333500"/>
                  <a:pt x="0" y="1324971"/>
                  <a:pt x="0" y="1314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02958" y="2738914"/>
            <a:ext cx="31021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The Key Idea: Conformal Mapping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2005" y="3016568"/>
            <a:ext cx="3465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A conformal map f : ℍ → Ω preserves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2005" y="3245168"/>
            <a:ext cx="39677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harmonicity. Any analytic W(ζ) in ℍ gives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2005" y="3473768"/>
            <a:ext cx="36818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valid flow in Ω via W̃(z) = W(f⁻¹(z)).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4095750"/>
            <a:ext cx="4762500" cy="1095375"/>
          </a:xfrm>
          <a:custGeom>
            <a:avLst/>
            <a:gdLst/>
            <a:ahLst/>
            <a:cxnLst/>
            <a:rect l="l" t="t" r="r" b="b"/>
            <a:pathLst>
              <a:path w="4762500" h="1095375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019175"/>
                </a:lnTo>
                <a:cubicBezTo>
                  <a:pt x="4762500" y="1061259"/>
                  <a:pt x="4728384" y="1095375"/>
                  <a:pt x="4686300" y="1095375"/>
                </a:cubicBezTo>
                <a:lnTo>
                  <a:pt x="76200" y="1095375"/>
                </a:lnTo>
                <a:cubicBezTo>
                  <a:pt x="34116" y="1095375"/>
                  <a:pt x="0" y="1061259"/>
                  <a:pt x="0" y="1019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Freeform 22"/>
          <p:cNvSpPr/>
          <p:nvPr/>
        </p:nvSpPr>
        <p:spPr>
          <a:xfrm>
            <a:off x="571500" y="4095750"/>
            <a:ext cx="47625" cy="1095375"/>
          </a:xfrm>
          <a:custGeom>
            <a:avLst/>
            <a:gdLst/>
            <a:ahLst/>
            <a:cxnLst/>
            <a:rect l="l" t="t" r="r" b="b"/>
            <a:pathLst>
              <a:path w="47625" h="109537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076325"/>
                </a:lnTo>
                <a:cubicBezTo>
                  <a:pt x="47625" y="1086846"/>
                  <a:pt x="39096" y="1095375"/>
                  <a:pt x="28575" y="1095375"/>
                </a:cubicBezTo>
                <a:lnTo>
                  <a:pt x="19050" y="1095375"/>
                </a:lnTo>
                <a:cubicBezTo>
                  <a:pt x="8529" y="1095375"/>
                  <a:pt x="0" y="1086846"/>
                  <a:pt x="0" y="10763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02958" y="4262914"/>
            <a:ext cx="34051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Application: Boulder County Polygon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2005" y="4521518"/>
            <a:ext cx="45790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12-vertex simplification of the Boulder County,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2005" y="4750118"/>
            <a:ext cx="2822889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CO boundary </a:t>
            </a:r>
            <a:r>
              <a:rPr lang="en-US" alt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-</a:t>
            </a:r>
            <a:r>
              <a:rPr lang="zh-CN" sz="13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 a non-trivial test domain.</a:t>
            </a:r>
          </a:p>
        </p:txBody>
      </p:sp>
      <p:sp>
        <p:nvSpPr>
          <p:cNvPr id="26" name="Freeform 26"/>
          <p:cNvSpPr/>
          <p:nvPr/>
        </p:nvSpPr>
        <p:spPr>
          <a:xfrm>
            <a:off x="6477000" y="1047750"/>
            <a:ext cx="4572000" cy="1047750"/>
          </a:xfrm>
          <a:custGeom>
            <a:avLst/>
            <a:gdLst/>
            <a:ahLst/>
            <a:cxnLst/>
            <a:rect l="l" t="t" r="r" b="b"/>
            <a:pathLst>
              <a:path w="4572000" h="1047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952500"/>
                </a:lnTo>
                <a:cubicBezTo>
                  <a:pt x="4572000" y="1005105"/>
                  <a:pt x="4529355" y="1047750"/>
                  <a:pt x="44767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705550" y="1330642"/>
            <a:ext cx="2114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① Irregular Polygon 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61657" y="1613535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AFAF8">
                    <a:alpha val="80000"/>
                  </a:srgbClr>
                </a:solidFill>
                <a:latin typeface="Times New Roman"/>
                <a:ea typeface="SimSun"/>
                <a:cs typeface="Times New Roman"/>
              </a:rPr>
              <a:t>∇²φ = 0 intractable in physical domain</a:t>
            </a:r>
          </a:p>
        </p:txBody>
      </p:sp>
      <p:sp>
        <p:nvSpPr>
          <p:cNvPr id="29" name="Line 29"/>
          <p:cNvSpPr/>
          <p:nvPr/>
        </p:nvSpPr>
        <p:spPr>
          <a:xfrm>
            <a:off x="8763000" y="2095500"/>
            <a:ext cx="1" cy="304800"/>
          </a:xfrm>
          <a:prstGeom prst="line">
            <a:avLst/>
          </a:prstGeom>
          <a:noFill/>
          <a:ln w="23812">
            <a:solidFill>
              <a:srgbClr val="2471A3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Freeform 30"/>
          <p:cNvSpPr/>
          <p:nvPr/>
        </p:nvSpPr>
        <p:spPr>
          <a:xfrm>
            <a:off x="6477000" y="2428875"/>
            <a:ext cx="4572000" cy="1047750"/>
          </a:xfrm>
          <a:custGeom>
            <a:avLst/>
            <a:gdLst/>
            <a:ahLst/>
            <a:cxnLst/>
            <a:rect l="l" t="t" r="r" b="b"/>
            <a:pathLst>
              <a:path w="4572000" h="1047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952500"/>
                </a:lnTo>
                <a:cubicBezTo>
                  <a:pt x="4572000" y="1005105"/>
                  <a:pt x="4529355" y="1047750"/>
                  <a:pt x="44767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7881522" y="2711768"/>
            <a:ext cx="1762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② SC Map f : ℍ → Ω</a:t>
            </a:r>
          </a:p>
        </p:txBody>
      </p:sp>
      <p:pic>
        <p:nvPicPr>
          <p:cNvPr id="32" name="Imag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52750"/>
            <a:ext cx="1981200" cy="476250"/>
          </a:xfrm>
          <a:prstGeom prst="rect">
            <a:avLst/>
          </a:prstGeom>
        </p:spPr>
      </p:pic>
      <p:sp>
        <p:nvSpPr>
          <p:cNvPr id="33" name="Line 33"/>
          <p:cNvSpPr/>
          <p:nvPr/>
        </p:nvSpPr>
        <p:spPr>
          <a:xfrm>
            <a:off x="8763000" y="3476625"/>
            <a:ext cx="1" cy="304800"/>
          </a:xfrm>
          <a:prstGeom prst="line">
            <a:avLst/>
          </a:prstGeom>
          <a:noFill/>
          <a:ln w="23812">
            <a:solidFill>
              <a:srgbClr val="2471A3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Freeform 34"/>
          <p:cNvSpPr/>
          <p:nvPr/>
        </p:nvSpPr>
        <p:spPr>
          <a:xfrm>
            <a:off x="6477000" y="3810000"/>
            <a:ext cx="4572000" cy="1047750"/>
          </a:xfrm>
          <a:custGeom>
            <a:avLst/>
            <a:gdLst/>
            <a:ahLst/>
            <a:cxnLst/>
            <a:rect l="l" t="t" r="r" b="b"/>
            <a:pathLst>
              <a:path w="4572000" h="1047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952500"/>
                </a:lnTo>
                <a:cubicBezTo>
                  <a:pt x="4572000" y="1005105"/>
                  <a:pt x="4529355" y="1047750"/>
                  <a:pt x="44767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Freeform 35"/>
          <p:cNvSpPr/>
          <p:nvPr/>
        </p:nvSpPr>
        <p:spPr>
          <a:xfrm>
            <a:off x="6477000" y="3810000"/>
            <a:ext cx="4572000" cy="1047750"/>
          </a:xfrm>
          <a:custGeom>
            <a:avLst/>
            <a:gdLst/>
            <a:ahLst/>
            <a:cxnLst/>
            <a:rect l="l" t="t" r="r" b="b"/>
            <a:pathLst>
              <a:path w="4572000" h="1047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952500"/>
                </a:lnTo>
                <a:cubicBezTo>
                  <a:pt x="4572000" y="1005105"/>
                  <a:pt x="4529355" y="1047750"/>
                  <a:pt x="44767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19050">
            <a:solidFill>
              <a:srgbClr val="2471A3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7767658" y="4092892"/>
            <a:ext cx="1990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③ Analytic W(ζ) in 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4027" y="4375785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Streamlines ψ = const satisfy boundary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59599" y="4547235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conditions automatically on ∂ℍ</a:t>
            </a:r>
          </a:p>
        </p:txBody>
      </p:sp>
      <p:sp>
        <p:nvSpPr>
          <p:cNvPr id="39" name="Line 39"/>
          <p:cNvSpPr/>
          <p:nvPr/>
        </p:nvSpPr>
        <p:spPr>
          <a:xfrm>
            <a:off x="8763000" y="4857750"/>
            <a:ext cx="1" cy="304800"/>
          </a:xfrm>
          <a:prstGeom prst="line">
            <a:avLst/>
          </a:prstGeom>
          <a:noFill/>
          <a:ln w="23812">
            <a:solidFill>
              <a:srgbClr val="C0392B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Freeform 40"/>
          <p:cNvSpPr/>
          <p:nvPr/>
        </p:nvSpPr>
        <p:spPr>
          <a:xfrm>
            <a:off x="6477000" y="5191125"/>
            <a:ext cx="4572000" cy="1047750"/>
          </a:xfrm>
          <a:custGeom>
            <a:avLst/>
            <a:gdLst/>
            <a:ahLst/>
            <a:cxnLst/>
            <a:rect l="l" t="t" r="r" b="b"/>
            <a:pathLst>
              <a:path w="4572000" h="1047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952500"/>
                </a:lnTo>
                <a:cubicBezTo>
                  <a:pt x="4572000" y="1005105"/>
                  <a:pt x="4529355" y="1047750"/>
                  <a:pt x="44767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7990211" y="5474018"/>
            <a:ext cx="15455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④ Pull Back to Ω</a:t>
            </a:r>
          </a:p>
        </p:txBody>
      </p:sp>
      <p:pic>
        <p:nvPicPr>
          <p:cNvPr id="42" name="Imag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5" y="5724525"/>
            <a:ext cx="1390650" cy="3429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7995904" y="6066949"/>
            <a:ext cx="15341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AFAF8">
                    <a:alpha val="75000"/>
                  </a:srgbClr>
                </a:solidFill>
                <a:latin typeface="Times New Roman"/>
                <a:ea typeface="SimSun"/>
                <a:cs typeface="Times New Roman"/>
              </a:rPr>
              <a:t>— valid flow in polygon</a:t>
            </a:r>
          </a:p>
        </p:txBody>
      </p:sp>
      <p:sp>
        <p:nvSpPr>
          <p:cNvPr id="44" name="Line 44"/>
          <p:cNvSpPr/>
          <p:nvPr/>
        </p:nvSpPr>
        <p:spPr>
          <a:xfrm>
            <a:off x="6048375" y="904875"/>
            <a:ext cx="9525" cy="5572125"/>
          </a:xfrm>
          <a:custGeom>
            <a:avLst/>
            <a:gdLst/>
            <a:ahLst/>
            <a:cxnLst/>
            <a:rect l="l" t="t" r="r" b="b"/>
            <a:pathLst>
              <a:path w="9525" h="5572125">
                <a:moveTo>
                  <a:pt x="0" y="0"/>
                </a:moveTo>
                <a:lnTo>
                  <a:pt x="0" y="5572125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Rectangle 45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425" y="242888"/>
            <a:ext cx="607815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Ideal Flow and the Complex Potential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385" y="38052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776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3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000125"/>
            <a:ext cx="3390900" cy="5048250"/>
          </a:xfrm>
          <a:custGeom>
            <a:avLst/>
            <a:gdLst/>
            <a:ahLst/>
            <a:cxnLst/>
            <a:rect l="l" t="t" r="r" b="b"/>
            <a:pathLst>
              <a:path w="3390900" h="504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953000"/>
                </a:lnTo>
                <a:cubicBezTo>
                  <a:pt x="3390900" y="5005605"/>
                  <a:pt x="3348255" y="5048250"/>
                  <a:pt x="3295650" y="5048250"/>
                </a:cubicBezTo>
                <a:lnTo>
                  <a:pt x="95250" y="5048250"/>
                </a:lnTo>
                <a:cubicBezTo>
                  <a:pt x="42645" y="5048250"/>
                  <a:pt x="0" y="5005605"/>
                  <a:pt x="0" y="495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571500" y="1000125"/>
            <a:ext cx="3390900" cy="57150"/>
          </a:xfrm>
          <a:custGeom>
            <a:avLst/>
            <a:gdLst/>
            <a:ahLst/>
            <a:cxnLst/>
            <a:rect l="l" t="t" r="r" b="b"/>
            <a:pathLst>
              <a:path w="3390900" h="57150">
                <a:moveTo>
                  <a:pt x="28575" y="0"/>
                </a:moveTo>
                <a:lnTo>
                  <a:pt x="3362325" y="0"/>
                </a:lnTo>
                <a:cubicBezTo>
                  <a:pt x="3378107" y="0"/>
                  <a:pt x="3390900" y="12793"/>
                  <a:pt x="3390900" y="28575"/>
                </a:cubicBezTo>
                <a:lnTo>
                  <a:pt x="3390900" y="28575"/>
                </a:lnTo>
                <a:cubicBezTo>
                  <a:pt x="3390900" y="44357"/>
                  <a:pt x="3378107" y="57150"/>
                  <a:pt x="33623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Freeform 11"/>
          <p:cNvSpPr/>
          <p:nvPr/>
        </p:nvSpPr>
        <p:spPr>
          <a:xfrm>
            <a:off x="842648" y="1200150"/>
            <a:ext cx="257489" cy="228600"/>
          </a:xfrm>
          <a:custGeom>
            <a:avLst/>
            <a:gdLst/>
            <a:ahLst/>
            <a:cxnLst/>
            <a:rect l="l" t="t" r="r" b="b"/>
            <a:pathLst>
              <a:path w="257489" h="228600">
                <a:moveTo>
                  <a:pt x="257489" y="114300"/>
                </a:moveTo>
                <a:lnTo>
                  <a:pt x="228914" y="114300"/>
                </a:lnTo>
                <a:cubicBezTo>
                  <a:pt x="216141" y="114300"/>
                  <a:pt x="205169" y="102056"/>
                  <a:pt x="203754" y="85725"/>
                </a:cubicBezTo>
                <a:cubicBezTo>
                  <a:pt x="199525" y="36433"/>
                  <a:pt x="193053" y="0"/>
                  <a:pt x="164478" y="0"/>
                </a:cubicBezTo>
                <a:cubicBezTo>
                  <a:pt x="135903" y="0"/>
                  <a:pt x="128759" y="51178"/>
                  <a:pt x="128759" y="114300"/>
                </a:cubicBezTo>
                <a:cubicBezTo>
                  <a:pt x="128759" y="177422"/>
                  <a:pt x="121615" y="228600"/>
                  <a:pt x="93040" y="228600"/>
                </a:cubicBezTo>
                <a:cubicBezTo>
                  <a:pt x="64465" y="228600"/>
                  <a:pt x="58007" y="192210"/>
                  <a:pt x="53764" y="142875"/>
                </a:cubicBezTo>
                <a:cubicBezTo>
                  <a:pt x="52335" y="126487"/>
                  <a:pt x="41377" y="114300"/>
                  <a:pt x="28575" y="114300"/>
                </a:cubicBezTo>
                <a:lnTo>
                  <a:pt x="0" y="114300"/>
                </a:lnTo>
              </a:path>
            </a:pathLst>
          </a:custGeom>
          <a:noFill/>
          <a:ln w="19050">
            <a:solidFill>
              <a:srgbClr val="1B3A6B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222058" y="1272064"/>
            <a:ext cx="1489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Flow Conditions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154305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47712" y="1688306"/>
            <a:ext cx="11327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Irrotational:</a:t>
            </a:r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66900"/>
            <a:ext cx="1295400" cy="400050"/>
          </a:xfrm>
          <a:prstGeom prst="rect">
            <a:avLst/>
          </a:prstGeom>
        </p:spPr>
      </p:pic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05050"/>
            <a:ext cx="1533525" cy="342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47712" y="2688431"/>
            <a:ext cx="13569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Incompressible: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76550"/>
            <a:ext cx="1295400" cy="4000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47712" y="3307556"/>
            <a:ext cx="16141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stream function ψ</a:t>
            </a:r>
          </a:p>
        </p:txBody>
      </p:sp>
      <p:pic>
        <p:nvPicPr>
          <p:cNvPr id="20" name="Imag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543300"/>
            <a:ext cx="771525" cy="342900"/>
          </a:xfrm>
          <a:prstGeom prst="rect">
            <a:avLst/>
          </a:prstGeom>
        </p:spPr>
      </p:pic>
      <p:sp>
        <p:nvSpPr>
          <p:cNvPr id="21" name="Line 21"/>
          <p:cNvSpPr/>
          <p:nvPr/>
        </p:nvSpPr>
        <p:spPr>
          <a:xfrm>
            <a:off x="762000" y="39624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747712" y="4031456"/>
            <a:ext cx="27971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Both conditions → Cauchy–Riemann: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248150"/>
            <a:ext cx="1162050" cy="447675"/>
          </a:xfrm>
          <a:prstGeom prst="rect">
            <a:avLst/>
          </a:prstGeom>
        </p:spPr>
      </p:pic>
      <p:pic>
        <p:nvPicPr>
          <p:cNvPr id="24" name="Imag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24400"/>
            <a:ext cx="1333500" cy="447675"/>
          </a:xfrm>
          <a:prstGeom prst="rect">
            <a:avLst/>
          </a:prstGeom>
        </p:spPr>
      </p:pic>
      <p:sp>
        <p:nvSpPr>
          <p:cNvPr id="25" name="Freeform 25"/>
          <p:cNvSpPr/>
          <p:nvPr/>
        </p:nvSpPr>
        <p:spPr>
          <a:xfrm>
            <a:off x="4400550" y="1000125"/>
            <a:ext cx="3390900" cy="5048250"/>
          </a:xfrm>
          <a:custGeom>
            <a:avLst/>
            <a:gdLst/>
            <a:ahLst/>
            <a:cxnLst/>
            <a:rect l="l" t="t" r="r" b="b"/>
            <a:pathLst>
              <a:path w="3390900" h="504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953000"/>
                </a:lnTo>
                <a:cubicBezTo>
                  <a:pt x="3390900" y="5005605"/>
                  <a:pt x="3348255" y="5048250"/>
                  <a:pt x="3295650" y="5048250"/>
                </a:cubicBezTo>
                <a:lnTo>
                  <a:pt x="95250" y="5048250"/>
                </a:lnTo>
                <a:cubicBezTo>
                  <a:pt x="42645" y="5048250"/>
                  <a:pt x="0" y="5005605"/>
                  <a:pt x="0" y="495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Freeform 26"/>
          <p:cNvSpPr/>
          <p:nvPr/>
        </p:nvSpPr>
        <p:spPr>
          <a:xfrm>
            <a:off x="4400550" y="1000125"/>
            <a:ext cx="3390900" cy="57150"/>
          </a:xfrm>
          <a:custGeom>
            <a:avLst/>
            <a:gdLst/>
            <a:ahLst/>
            <a:cxnLst/>
            <a:rect l="l" t="t" r="r" b="b"/>
            <a:pathLst>
              <a:path w="3390900" h="57150">
                <a:moveTo>
                  <a:pt x="28575" y="0"/>
                </a:moveTo>
                <a:lnTo>
                  <a:pt x="3362325" y="0"/>
                </a:lnTo>
                <a:cubicBezTo>
                  <a:pt x="3378107" y="0"/>
                  <a:pt x="3390900" y="12793"/>
                  <a:pt x="3390900" y="28575"/>
                </a:cubicBezTo>
                <a:lnTo>
                  <a:pt x="3390900" y="28575"/>
                </a:lnTo>
                <a:cubicBezTo>
                  <a:pt x="3390900" y="44357"/>
                  <a:pt x="3378107" y="57150"/>
                  <a:pt x="33623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4672012" y="1214438"/>
            <a:ext cx="242888" cy="200025"/>
            <a:chOff x="4672012" y="1214438"/>
            <a:chExt cx="242888" cy="200025"/>
          </a:xfrm>
        </p:grpSpPr>
        <p:sp>
          <p:nvSpPr>
            <p:cNvPr id="27" name="Freeform 27"/>
            <p:cNvSpPr/>
            <p:nvPr/>
          </p:nvSpPr>
          <p:spPr>
            <a:xfrm>
              <a:off x="4672012" y="1214438"/>
              <a:ext cx="228600" cy="200025"/>
            </a:xfrm>
            <a:custGeom>
              <a:avLst/>
              <a:gdLst/>
              <a:ahLst/>
              <a:cxnLst/>
              <a:rect l="l" t="t" r="r" b="b"/>
              <a:pathLst>
                <a:path w="228600" h="200025">
                  <a:moveTo>
                    <a:pt x="228600" y="0"/>
                  </a:moveTo>
                  <a:lnTo>
                    <a:pt x="128588" y="0"/>
                  </a:lnTo>
                  <a:lnTo>
                    <a:pt x="71438" y="200025"/>
                  </a:lnTo>
                  <a:lnTo>
                    <a:pt x="28575" y="11430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829175" y="13287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85725" y="85725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829175" y="13287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051108" y="1272064"/>
            <a:ext cx="17041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Complex Potential</a:t>
            </a:r>
          </a:p>
        </p:txBody>
      </p:sp>
      <p:sp>
        <p:nvSpPr>
          <p:cNvPr id="32" name="Line 32"/>
          <p:cNvSpPr/>
          <p:nvPr/>
        </p:nvSpPr>
        <p:spPr>
          <a:xfrm>
            <a:off x="4591050" y="154305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4575810" y="1737360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Since φ, ψ satisfy Cauchy–Riemann,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75810" y="1946910"/>
            <a:ext cx="10995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the function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4591050" y="2190750"/>
            <a:ext cx="3009900" cy="685800"/>
          </a:xfrm>
          <a:custGeom>
            <a:avLst/>
            <a:gdLst/>
            <a:ahLst/>
            <a:cxnLst/>
            <a:rect l="l" t="t" r="r" b="b"/>
            <a:pathLst>
              <a:path w="3009900" h="685800">
                <a:moveTo>
                  <a:pt x="57150" y="0"/>
                </a:moveTo>
                <a:lnTo>
                  <a:pt x="2952750" y="0"/>
                </a:lnTo>
                <a:cubicBezTo>
                  <a:pt x="2984313" y="0"/>
                  <a:pt x="3009900" y="25587"/>
                  <a:pt x="3009900" y="57150"/>
                </a:cubicBezTo>
                <a:lnTo>
                  <a:pt x="3009900" y="628650"/>
                </a:lnTo>
                <a:cubicBezTo>
                  <a:pt x="3009900" y="660213"/>
                  <a:pt x="2984313" y="685800"/>
                  <a:pt x="29527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335530"/>
            <a:ext cx="2914650" cy="395288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4575810" y="2966085"/>
            <a:ext cx="2650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is analytic on the flow domain.</a:t>
            </a:r>
          </a:p>
        </p:txBody>
      </p:sp>
      <p:sp>
        <p:nvSpPr>
          <p:cNvPr id="38" name="Line 38"/>
          <p:cNvSpPr/>
          <p:nvPr/>
        </p:nvSpPr>
        <p:spPr>
          <a:xfrm>
            <a:off x="4591050" y="32766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4576762" y="3383756"/>
            <a:ext cx="18227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Velocity from W'(z):</a:t>
            </a:r>
          </a:p>
        </p:txBody>
      </p:sp>
      <p:pic>
        <p:nvPicPr>
          <p:cNvPr id="40" name="Imag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050" y="3609975"/>
            <a:ext cx="1362075" cy="40005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4576762" y="4031456"/>
            <a:ext cx="34543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Complex derivative gives velocity directly.</a:t>
            </a:r>
          </a:p>
        </p:txBody>
      </p:sp>
      <p:sp>
        <p:nvSpPr>
          <p:cNvPr id="42" name="Line 42"/>
          <p:cNvSpPr/>
          <p:nvPr/>
        </p:nvSpPr>
        <p:spPr>
          <a:xfrm>
            <a:off x="4591050" y="4333875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4576762" y="4450556"/>
            <a:ext cx="16761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Geometric meaning: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76762" y="4669631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φ = const → equipotential lines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76762" y="4860131"/>
            <a:ext cx="18934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ψ = const → streamlines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76762" y="5050631"/>
            <a:ext cx="3363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Both families are orthogonal (∇φ · ∇ψ = 0)</a:t>
            </a:r>
          </a:p>
        </p:txBody>
      </p:sp>
      <p:sp>
        <p:nvSpPr>
          <p:cNvPr id="47" name="Freeform 47"/>
          <p:cNvSpPr/>
          <p:nvPr/>
        </p:nvSpPr>
        <p:spPr>
          <a:xfrm>
            <a:off x="8229600" y="1000125"/>
            <a:ext cx="3390900" cy="5048250"/>
          </a:xfrm>
          <a:custGeom>
            <a:avLst/>
            <a:gdLst/>
            <a:ahLst/>
            <a:cxnLst/>
            <a:rect l="l" t="t" r="r" b="b"/>
            <a:pathLst>
              <a:path w="3390900" h="5048250">
                <a:moveTo>
                  <a:pt x="95250" y="0"/>
                </a:moveTo>
                <a:lnTo>
                  <a:pt x="3295650" y="0"/>
                </a:lnTo>
                <a:cubicBezTo>
                  <a:pt x="3348255" y="0"/>
                  <a:pt x="3390900" y="42645"/>
                  <a:pt x="3390900" y="95250"/>
                </a:cubicBezTo>
                <a:lnTo>
                  <a:pt x="3390900" y="4953000"/>
                </a:lnTo>
                <a:cubicBezTo>
                  <a:pt x="3390900" y="5005605"/>
                  <a:pt x="3348255" y="5048250"/>
                  <a:pt x="3295650" y="5048250"/>
                </a:cubicBezTo>
                <a:lnTo>
                  <a:pt x="95250" y="5048250"/>
                </a:lnTo>
                <a:cubicBezTo>
                  <a:pt x="42645" y="5048250"/>
                  <a:pt x="0" y="5005605"/>
                  <a:pt x="0" y="495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Freeform 48"/>
          <p:cNvSpPr/>
          <p:nvPr/>
        </p:nvSpPr>
        <p:spPr>
          <a:xfrm>
            <a:off x="8229600" y="1000125"/>
            <a:ext cx="3390900" cy="57150"/>
          </a:xfrm>
          <a:custGeom>
            <a:avLst/>
            <a:gdLst/>
            <a:ahLst/>
            <a:cxnLst/>
            <a:rect l="l" t="t" r="r" b="b"/>
            <a:pathLst>
              <a:path w="3390900" h="57150">
                <a:moveTo>
                  <a:pt x="28575" y="0"/>
                </a:moveTo>
                <a:lnTo>
                  <a:pt x="3362325" y="0"/>
                </a:lnTo>
                <a:cubicBezTo>
                  <a:pt x="3378107" y="0"/>
                  <a:pt x="3390900" y="12793"/>
                  <a:pt x="3390900" y="28575"/>
                </a:cubicBezTo>
                <a:lnTo>
                  <a:pt x="3390900" y="28575"/>
                </a:lnTo>
                <a:cubicBezTo>
                  <a:pt x="3390900" y="44357"/>
                  <a:pt x="3378107" y="57150"/>
                  <a:pt x="33623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51" name="Group 51"/>
          <p:cNvGrpSpPr/>
          <p:nvPr/>
        </p:nvGrpSpPr>
        <p:grpSpPr>
          <a:xfrm>
            <a:off x="8501062" y="1185862"/>
            <a:ext cx="257175" cy="257175"/>
            <a:chOff x="8501062" y="1185862"/>
            <a:chExt cx="257175" cy="257175"/>
          </a:xfrm>
        </p:grpSpPr>
        <p:sp>
          <p:nvSpPr>
            <p:cNvPr id="49" name="Freeform 49"/>
            <p:cNvSpPr/>
            <p:nvPr/>
          </p:nvSpPr>
          <p:spPr>
            <a:xfrm>
              <a:off x="8501062" y="118586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0" y="128588"/>
                  </a:moveTo>
                  <a:cubicBezTo>
                    <a:pt x="0" y="199604"/>
                    <a:pt x="57571" y="257175"/>
                    <a:pt x="128588" y="257175"/>
                  </a:cubicBezTo>
                  <a:cubicBezTo>
                    <a:pt x="199604" y="257175"/>
                    <a:pt x="257175" y="199604"/>
                    <a:pt x="257175" y="128588"/>
                  </a:cubicBezTo>
                  <a:cubicBezTo>
                    <a:pt x="257175" y="57571"/>
                    <a:pt x="199604" y="0"/>
                    <a:pt x="128588" y="0"/>
                  </a:cubicBezTo>
                  <a:cubicBezTo>
                    <a:pt x="57571" y="0"/>
                    <a:pt x="0" y="57571"/>
                    <a:pt x="0" y="128588"/>
                  </a:cubicBez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8586788" y="1285875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8880158" y="1272064"/>
            <a:ext cx="1821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Boundary Condition</a:t>
            </a:r>
          </a:p>
        </p:txBody>
      </p:sp>
      <p:sp>
        <p:nvSpPr>
          <p:cNvPr id="53" name="Line 53"/>
          <p:cNvSpPr/>
          <p:nvPr/>
        </p:nvSpPr>
        <p:spPr>
          <a:xfrm>
            <a:off x="8420100" y="154305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8405812" y="1745456"/>
            <a:ext cx="22282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No-penetration condition: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04860" y="1965960"/>
            <a:ext cx="27645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Fluid cannot cross solid wall ∂Ω:</a:t>
            </a:r>
          </a:p>
        </p:txBody>
      </p:sp>
      <p:pic>
        <p:nvPicPr>
          <p:cNvPr id="56" name="Imag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100" y="2171700"/>
            <a:ext cx="1409700" cy="342900"/>
          </a:xfrm>
          <a:prstGeom prst="rect">
            <a:avLst/>
          </a:prstGeom>
        </p:spPr>
      </p:pic>
      <p:sp>
        <p:nvSpPr>
          <p:cNvPr id="57" name="Freeform 57"/>
          <p:cNvSpPr/>
          <p:nvPr/>
        </p:nvSpPr>
        <p:spPr>
          <a:xfrm>
            <a:off x="8420100" y="2552700"/>
            <a:ext cx="3009900" cy="685800"/>
          </a:xfrm>
          <a:custGeom>
            <a:avLst/>
            <a:gdLst/>
            <a:ahLst/>
            <a:cxnLst/>
            <a:rect l="l" t="t" r="r" b="b"/>
            <a:pathLst>
              <a:path w="3009900" h="685800">
                <a:moveTo>
                  <a:pt x="57150" y="0"/>
                </a:moveTo>
                <a:lnTo>
                  <a:pt x="2952750" y="0"/>
                </a:lnTo>
                <a:cubicBezTo>
                  <a:pt x="2984313" y="0"/>
                  <a:pt x="3009900" y="25587"/>
                  <a:pt x="3009900" y="57150"/>
                </a:cubicBezTo>
                <a:lnTo>
                  <a:pt x="3009900" y="628650"/>
                </a:lnTo>
                <a:cubicBezTo>
                  <a:pt x="3009900" y="660213"/>
                  <a:pt x="2984313" y="685800"/>
                  <a:pt x="29527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8" name="Image 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0615" y="2581275"/>
            <a:ext cx="2388870" cy="628650"/>
          </a:xfrm>
          <a:prstGeom prst="rect">
            <a:avLst/>
          </a:prstGeom>
        </p:spPr>
      </p:pic>
      <p:sp>
        <p:nvSpPr>
          <p:cNvPr id="59" name="Line 59"/>
          <p:cNvSpPr/>
          <p:nvPr/>
        </p:nvSpPr>
        <p:spPr>
          <a:xfrm>
            <a:off x="8420100" y="340995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Box 60"/>
          <p:cNvSpPr txBox="1"/>
          <p:nvPr/>
        </p:nvSpPr>
        <p:spPr>
          <a:xfrm>
            <a:off x="8405812" y="3583781"/>
            <a:ext cx="14605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The SC strategy: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05812" y="3812381"/>
            <a:ext cx="3339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In ℍ, the real axis ∂ℍ = ℝ is the boundary.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05812" y="4021931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Choose W(ζ) so Im W = 0 on ℝ.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05812" y="4250531"/>
            <a:ext cx="23863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Pulling back via f : ℍ → Ω gives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05812" y="4460081"/>
            <a:ext cx="20824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ψ = 0 on ∂Ω automatically.</a:t>
            </a:r>
          </a:p>
        </p:txBody>
      </p:sp>
      <p:sp>
        <p:nvSpPr>
          <p:cNvPr id="65" name="Line 65"/>
          <p:cNvSpPr/>
          <p:nvPr/>
        </p:nvSpPr>
        <p:spPr>
          <a:xfrm>
            <a:off x="8420100" y="4772025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Box 66"/>
          <p:cNvSpPr txBox="1"/>
          <p:nvPr/>
        </p:nvSpPr>
        <p:spPr>
          <a:xfrm>
            <a:off x="8405812" y="4926806"/>
            <a:ext cx="22368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Riemann Mapping Theorem: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405812" y="5136356"/>
            <a:ext cx="2263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Such f exists for any simply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05812" y="5326856"/>
            <a:ext cx="2624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connected Ω ⊊ ℂ (Riemann, 1851).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05812" y="5517356"/>
            <a:ext cx="240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SC gives the explicit formula.</a:t>
            </a:r>
          </a:p>
        </p:txBody>
      </p:sp>
      <p:sp>
        <p:nvSpPr>
          <p:cNvPr id="70" name="Rectangle 70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Box 71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425" y="242888"/>
            <a:ext cx="56468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The Schwarz–Christoffel Formula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385" y="38052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776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4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762000" y="904875"/>
            <a:ext cx="10668000" cy="1857375"/>
          </a:xfrm>
          <a:custGeom>
            <a:avLst/>
            <a:gdLst/>
            <a:ahLst/>
            <a:cxnLst/>
            <a:rect l="l" t="t" r="r" b="b"/>
            <a:pathLst>
              <a:path w="10668000" h="1857375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762125"/>
                </a:lnTo>
                <a:cubicBezTo>
                  <a:pt x="10668000" y="1814730"/>
                  <a:pt x="10625355" y="1857375"/>
                  <a:pt x="10572750" y="1857375"/>
                </a:cubicBezTo>
                <a:lnTo>
                  <a:pt x="95250" y="1857375"/>
                </a:lnTo>
                <a:cubicBezTo>
                  <a:pt x="42645" y="1857375"/>
                  <a:pt x="0" y="1814730"/>
                  <a:pt x="0" y="1762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762000" y="904875"/>
            <a:ext cx="38100" cy="1857375"/>
          </a:xfrm>
          <a:custGeom>
            <a:avLst/>
            <a:gdLst/>
            <a:ahLst/>
            <a:cxnLst/>
            <a:rect l="l" t="t" r="r" b="b"/>
            <a:pathLst>
              <a:path w="38100" h="1857375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838325"/>
                </a:lnTo>
                <a:cubicBezTo>
                  <a:pt x="38100" y="1848846"/>
                  <a:pt x="29571" y="1857375"/>
                  <a:pt x="19050" y="1857375"/>
                </a:cubicBezTo>
                <a:lnTo>
                  <a:pt x="19050" y="1857375"/>
                </a:lnTo>
                <a:cubicBezTo>
                  <a:pt x="8529" y="1857375"/>
                  <a:pt x="0" y="1848846"/>
                  <a:pt x="0" y="18383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005" y="1000125"/>
            <a:ext cx="6205538" cy="1666875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762000" y="2924175"/>
            <a:ext cx="2438400" cy="1066800"/>
          </a:xfrm>
          <a:custGeom>
            <a:avLst/>
            <a:gdLst/>
            <a:ahLst/>
            <a:cxnLst/>
            <a:rect l="l" t="t" r="r" b="b"/>
            <a:pathLst>
              <a:path w="2438400" h="1066800">
                <a:moveTo>
                  <a:pt x="76200" y="0"/>
                </a:moveTo>
                <a:lnTo>
                  <a:pt x="2362200" y="0"/>
                </a:lnTo>
                <a:cubicBezTo>
                  <a:pt x="2404284" y="0"/>
                  <a:pt x="2438400" y="34116"/>
                  <a:pt x="2438400" y="76200"/>
                </a:cubicBezTo>
                <a:lnTo>
                  <a:pt x="2438400" y="990600"/>
                </a:lnTo>
                <a:cubicBezTo>
                  <a:pt x="2438400" y="1032684"/>
                  <a:pt x="2404284" y="1066800"/>
                  <a:pt x="23622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Freeform 13"/>
          <p:cNvSpPr/>
          <p:nvPr/>
        </p:nvSpPr>
        <p:spPr>
          <a:xfrm>
            <a:off x="762000" y="2924175"/>
            <a:ext cx="2438400" cy="47625"/>
          </a:xfrm>
          <a:custGeom>
            <a:avLst/>
            <a:gdLst/>
            <a:ahLst/>
            <a:cxnLst/>
            <a:rect l="l" t="t" r="r" b="b"/>
            <a:pathLst>
              <a:path w="2438400" h="47625">
                <a:moveTo>
                  <a:pt x="19050" y="0"/>
                </a:moveTo>
                <a:lnTo>
                  <a:pt x="2419350" y="0"/>
                </a:lnTo>
                <a:cubicBezTo>
                  <a:pt x="2429871" y="0"/>
                  <a:pt x="2438400" y="8529"/>
                  <a:pt x="2438400" y="19050"/>
                </a:cubicBezTo>
                <a:lnTo>
                  <a:pt x="2438400" y="28575"/>
                </a:lnTo>
                <a:cubicBezTo>
                  <a:pt x="2438400" y="39096"/>
                  <a:pt x="2429871" y="47625"/>
                  <a:pt x="241935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703368" y="3019425"/>
            <a:ext cx="555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A ∈ 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4843" y="3269456"/>
            <a:ext cx="17127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Translation constant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8100" y="344900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positions the polygon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4105" y="3620452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in the complex plane</a:t>
            </a:r>
          </a:p>
        </p:txBody>
      </p:sp>
      <p:sp>
        <p:nvSpPr>
          <p:cNvPr id="18" name="Freeform 18"/>
          <p:cNvSpPr/>
          <p:nvPr/>
        </p:nvSpPr>
        <p:spPr>
          <a:xfrm>
            <a:off x="3352800" y="2924175"/>
            <a:ext cx="2438400" cy="1066800"/>
          </a:xfrm>
          <a:custGeom>
            <a:avLst/>
            <a:gdLst/>
            <a:ahLst/>
            <a:cxnLst/>
            <a:rect l="l" t="t" r="r" b="b"/>
            <a:pathLst>
              <a:path w="2438400" h="1066800">
                <a:moveTo>
                  <a:pt x="76200" y="0"/>
                </a:moveTo>
                <a:lnTo>
                  <a:pt x="2362200" y="0"/>
                </a:lnTo>
                <a:cubicBezTo>
                  <a:pt x="2404284" y="0"/>
                  <a:pt x="2438400" y="34116"/>
                  <a:pt x="2438400" y="76200"/>
                </a:cubicBezTo>
                <a:lnTo>
                  <a:pt x="2438400" y="990600"/>
                </a:lnTo>
                <a:cubicBezTo>
                  <a:pt x="2438400" y="1032684"/>
                  <a:pt x="2404284" y="1066800"/>
                  <a:pt x="23622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Freeform 19"/>
          <p:cNvSpPr/>
          <p:nvPr/>
        </p:nvSpPr>
        <p:spPr>
          <a:xfrm>
            <a:off x="3352800" y="2924175"/>
            <a:ext cx="2438400" cy="47625"/>
          </a:xfrm>
          <a:custGeom>
            <a:avLst/>
            <a:gdLst/>
            <a:ahLst/>
            <a:cxnLst/>
            <a:rect l="l" t="t" r="r" b="b"/>
            <a:pathLst>
              <a:path w="2438400" h="47625">
                <a:moveTo>
                  <a:pt x="19050" y="0"/>
                </a:moveTo>
                <a:lnTo>
                  <a:pt x="2419350" y="0"/>
                </a:lnTo>
                <a:cubicBezTo>
                  <a:pt x="2429871" y="0"/>
                  <a:pt x="2438400" y="8529"/>
                  <a:pt x="2438400" y="19050"/>
                </a:cubicBezTo>
                <a:lnTo>
                  <a:pt x="2438400" y="28575"/>
                </a:lnTo>
                <a:cubicBezTo>
                  <a:pt x="2438400" y="39096"/>
                  <a:pt x="2429871" y="47625"/>
                  <a:pt x="241935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4294168" y="3019425"/>
            <a:ext cx="555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471A3"/>
                </a:solidFill>
                <a:latin typeface="Georgia"/>
                <a:ea typeface="SimSun"/>
                <a:cs typeface="Georgia"/>
              </a:rPr>
              <a:t>C ∈ 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6918" y="3269456"/>
            <a:ext cx="13101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Scale &amp; rotation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14584" y="344900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|C| = scale factor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84556" y="3620452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arg(C) = rotation angle</a:t>
            </a:r>
          </a:p>
        </p:txBody>
      </p:sp>
      <p:sp>
        <p:nvSpPr>
          <p:cNvPr id="24" name="Freeform 24"/>
          <p:cNvSpPr/>
          <p:nvPr/>
        </p:nvSpPr>
        <p:spPr>
          <a:xfrm>
            <a:off x="5943600" y="2924175"/>
            <a:ext cx="2438400" cy="1066800"/>
          </a:xfrm>
          <a:custGeom>
            <a:avLst/>
            <a:gdLst/>
            <a:ahLst/>
            <a:cxnLst/>
            <a:rect l="l" t="t" r="r" b="b"/>
            <a:pathLst>
              <a:path w="2438400" h="1066800">
                <a:moveTo>
                  <a:pt x="76200" y="0"/>
                </a:moveTo>
                <a:lnTo>
                  <a:pt x="2362200" y="0"/>
                </a:lnTo>
                <a:cubicBezTo>
                  <a:pt x="2404284" y="0"/>
                  <a:pt x="2438400" y="34116"/>
                  <a:pt x="2438400" y="76200"/>
                </a:cubicBezTo>
                <a:lnTo>
                  <a:pt x="2438400" y="990600"/>
                </a:lnTo>
                <a:cubicBezTo>
                  <a:pt x="2438400" y="1032684"/>
                  <a:pt x="2404284" y="1066800"/>
                  <a:pt x="23622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Freeform 25"/>
          <p:cNvSpPr/>
          <p:nvPr/>
        </p:nvSpPr>
        <p:spPr>
          <a:xfrm>
            <a:off x="5943600" y="2924175"/>
            <a:ext cx="2438400" cy="47625"/>
          </a:xfrm>
          <a:custGeom>
            <a:avLst/>
            <a:gdLst/>
            <a:ahLst/>
            <a:cxnLst/>
            <a:rect l="l" t="t" r="r" b="b"/>
            <a:pathLst>
              <a:path w="2438400" h="47625">
                <a:moveTo>
                  <a:pt x="19050" y="0"/>
                </a:moveTo>
                <a:lnTo>
                  <a:pt x="2419350" y="0"/>
                </a:lnTo>
                <a:cubicBezTo>
                  <a:pt x="2429871" y="0"/>
                  <a:pt x="2438400" y="8529"/>
                  <a:pt x="2438400" y="19050"/>
                </a:cubicBezTo>
                <a:lnTo>
                  <a:pt x="2438400" y="28575"/>
                </a:lnTo>
                <a:cubicBezTo>
                  <a:pt x="2438400" y="39096"/>
                  <a:pt x="2429871" y="47625"/>
                  <a:pt x="241935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6821710" y="3019425"/>
            <a:ext cx="6821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ζk ∈ 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6840" y="3269456"/>
            <a:ext cx="1071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Pre-vertices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67367" y="3449002"/>
            <a:ext cx="1590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Real-axis pre-images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02192" y="3620452"/>
            <a:ext cx="17212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of polygon vertices wk</a:t>
            </a:r>
          </a:p>
        </p:txBody>
      </p:sp>
      <p:sp>
        <p:nvSpPr>
          <p:cNvPr id="30" name="Freeform 30"/>
          <p:cNvSpPr/>
          <p:nvPr/>
        </p:nvSpPr>
        <p:spPr>
          <a:xfrm>
            <a:off x="8534400" y="2924175"/>
            <a:ext cx="2895600" cy="1066800"/>
          </a:xfrm>
          <a:custGeom>
            <a:avLst/>
            <a:gdLst/>
            <a:ahLst/>
            <a:cxnLst/>
            <a:rect l="l" t="t" r="r" b="b"/>
            <a:pathLst>
              <a:path w="2895600" h="1066800">
                <a:moveTo>
                  <a:pt x="76200" y="0"/>
                </a:moveTo>
                <a:lnTo>
                  <a:pt x="2819400" y="0"/>
                </a:lnTo>
                <a:cubicBezTo>
                  <a:pt x="2861484" y="0"/>
                  <a:pt x="2895600" y="34116"/>
                  <a:pt x="2895600" y="76200"/>
                </a:cubicBezTo>
                <a:lnTo>
                  <a:pt x="2895600" y="990600"/>
                </a:lnTo>
                <a:cubicBezTo>
                  <a:pt x="2895600" y="1032684"/>
                  <a:pt x="2861484" y="1066800"/>
                  <a:pt x="28194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Freeform 31"/>
          <p:cNvSpPr/>
          <p:nvPr/>
        </p:nvSpPr>
        <p:spPr>
          <a:xfrm>
            <a:off x="8534400" y="2924175"/>
            <a:ext cx="2895600" cy="47625"/>
          </a:xfrm>
          <a:custGeom>
            <a:avLst/>
            <a:gdLst/>
            <a:ahLst/>
            <a:cxnLst/>
            <a:rect l="l" t="t" r="r" b="b"/>
            <a:pathLst>
              <a:path w="2895600" h="47625">
                <a:moveTo>
                  <a:pt x="19050" y="0"/>
                </a:moveTo>
                <a:lnTo>
                  <a:pt x="2876550" y="0"/>
                </a:lnTo>
                <a:cubicBezTo>
                  <a:pt x="2887071" y="0"/>
                  <a:pt x="2895600" y="8529"/>
                  <a:pt x="2895600" y="19050"/>
                </a:cubicBezTo>
                <a:lnTo>
                  <a:pt x="2895600" y="28575"/>
                </a:lnTo>
                <a:cubicBezTo>
                  <a:pt x="2895600" y="39096"/>
                  <a:pt x="2887071" y="47625"/>
                  <a:pt x="287655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9353574" y="3019425"/>
            <a:ext cx="1257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7AE60"/>
                </a:solidFill>
                <a:latin typeface="Georgia"/>
                <a:ea typeface="SimSun"/>
                <a:cs typeface="Georgia"/>
              </a:rPr>
              <a:t>αk ∈ (0, 2)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7826" y="3269456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Interior angle / π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10412" y="3449002"/>
            <a:ext cx="1943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Interior angle at wk = αkπ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59931" y="3620452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Angle sum: Σαk = n − 2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5808" y="4186714"/>
            <a:ext cx="27599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Why does this formula work?</a:t>
            </a:r>
          </a:p>
        </p:txBody>
      </p:sp>
      <p:sp>
        <p:nvSpPr>
          <p:cNvPr id="37" name="Line 37"/>
          <p:cNvSpPr/>
          <p:nvPr/>
        </p:nvSpPr>
        <p:spPr>
          <a:xfrm>
            <a:off x="762000" y="44100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Freeform 38"/>
          <p:cNvSpPr/>
          <p:nvPr/>
        </p:nvSpPr>
        <p:spPr>
          <a:xfrm>
            <a:off x="762000" y="4514850"/>
            <a:ext cx="2476500" cy="1028700"/>
          </a:xfrm>
          <a:custGeom>
            <a:avLst/>
            <a:gdLst/>
            <a:ahLst/>
            <a:cxnLst/>
            <a:rect l="l" t="t" r="r" b="b"/>
            <a:pathLst>
              <a:path w="2476500" h="10287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952500"/>
                </a:lnTo>
                <a:cubicBezTo>
                  <a:pt x="2476500" y="994584"/>
                  <a:pt x="2442384" y="1028700"/>
                  <a:pt x="240030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940118" y="4647724"/>
            <a:ext cx="18638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① Direction of f '(t) on ℝ</a:t>
            </a:r>
          </a:p>
        </p:txBody>
      </p:sp>
      <p:pic>
        <p:nvPicPr>
          <p:cNvPr id="40" name="Imag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810125"/>
            <a:ext cx="1638300" cy="3048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940118" y="5133499"/>
            <a:ext cx="2068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image is a straight segment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0118" y="528589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(the k-th polygon edge)</a:t>
            </a:r>
          </a:p>
        </p:txBody>
      </p:sp>
      <p:sp>
        <p:nvSpPr>
          <p:cNvPr id="43" name="Freeform 43"/>
          <p:cNvSpPr/>
          <p:nvPr/>
        </p:nvSpPr>
        <p:spPr>
          <a:xfrm>
            <a:off x="3381375" y="4514850"/>
            <a:ext cx="2476500" cy="1028700"/>
          </a:xfrm>
          <a:custGeom>
            <a:avLst/>
            <a:gdLst/>
            <a:ahLst/>
            <a:cxnLst/>
            <a:rect l="l" t="t" r="r" b="b"/>
            <a:pathLst>
              <a:path w="2476500" h="10287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952500"/>
                </a:lnTo>
                <a:cubicBezTo>
                  <a:pt x="2476500" y="994584"/>
                  <a:pt x="2442384" y="1028700"/>
                  <a:pt x="240030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3559492" y="4647724"/>
            <a:ext cx="20582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② Vertex angle reproduction</a:t>
            </a:r>
          </a:p>
        </p:txBody>
      </p:sp>
      <p:pic>
        <p:nvPicPr>
          <p:cNvPr id="45" name="Image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4810125"/>
            <a:ext cx="1571625" cy="30480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3559492" y="513349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at each ζk → interior angle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59492" y="5285899"/>
            <a:ext cx="1406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is exactly αkπ at wk</a:t>
            </a:r>
          </a:p>
        </p:txBody>
      </p:sp>
      <p:sp>
        <p:nvSpPr>
          <p:cNvPr id="48" name="Freeform 48"/>
          <p:cNvSpPr/>
          <p:nvPr/>
        </p:nvSpPr>
        <p:spPr>
          <a:xfrm>
            <a:off x="6000750" y="4514850"/>
            <a:ext cx="2476500" cy="1028700"/>
          </a:xfrm>
          <a:custGeom>
            <a:avLst/>
            <a:gdLst/>
            <a:ahLst/>
            <a:cxnLst/>
            <a:rect l="l" t="t" r="r" b="b"/>
            <a:pathLst>
              <a:path w="2476500" h="10287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952500"/>
                </a:lnTo>
                <a:cubicBezTo>
                  <a:pt x="2476500" y="994584"/>
                  <a:pt x="2442384" y="1028700"/>
                  <a:pt x="240030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6178868" y="4647724"/>
            <a:ext cx="12881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③ Möbius freedom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78868" y="482869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3 real degrees of freedom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78868" y="5000149"/>
            <a:ext cx="1256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fix ζ₀=−1, ζ₁=0,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78868" y="5171599"/>
            <a:ext cx="16765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ζn−1=1; n−3 free params</a:t>
            </a:r>
          </a:p>
        </p:txBody>
      </p:sp>
      <p:sp>
        <p:nvSpPr>
          <p:cNvPr id="53" name="Freeform 53"/>
          <p:cNvSpPr/>
          <p:nvPr/>
        </p:nvSpPr>
        <p:spPr>
          <a:xfrm>
            <a:off x="8620125" y="4514850"/>
            <a:ext cx="2809875" cy="1028700"/>
          </a:xfrm>
          <a:custGeom>
            <a:avLst/>
            <a:gdLst/>
            <a:ahLst/>
            <a:cxnLst/>
            <a:rect l="l" t="t" r="r" b="b"/>
            <a:pathLst>
              <a:path w="2809875" h="1028700">
                <a:moveTo>
                  <a:pt x="76200" y="0"/>
                </a:moveTo>
                <a:lnTo>
                  <a:pt x="2733675" y="0"/>
                </a:lnTo>
                <a:cubicBezTo>
                  <a:pt x="2775759" y="0"/>
                  <a:pt x="2809875" y="34116"/>
                  <a:pt x="2809875" y="76200"/>
                </a:cubicBezTo>
                <a:lnTo>
                  <a:pt x="2809875" y="952500"/>
                </a:lnTo>
                <a:cubicBezTo>
                  <a:pt x="2809875" y="994584"/>
                  <a:pt x="2775759" y="1028700"/>
                  <a:pt x="2733675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8798242" y="4647724"/>
            <a:ext cx="17367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④ Boulder County: n = 12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798242" y="4828699"/>
            <a:ext cx="18901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n − 3 = 9 free pre-vertices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798242" y="5000149"/>
            <a:ext cx="20895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ζ₂, …, ζ₁₀ ∈ (0, 1) to recover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798242" y="5171599"/>
            <a:ext cx="17121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via Gauss–Legendre + LM</a:t>
            </a:r>
          </a:p>
        </p:txBody>
      </p:sp>
      <p:sp>
        <p:nvSpPr>
          <p:cNvPr id="58" name="Freeform 58"/>
          <p:cNvSpPr/>
          <p:nvPr/>
        </p:nvSpPr>
        <p:spPr>
          <a:xfrm>
            <a:off x="762000" y="5667375"/>
            <a:ext cx="10668000" cy="647700"/>
          </a:xfrm>
          <a:custGeom>
            <a:avLst/>
            <a:gdLst/>
            <a:ahLst/>
            <a:cxnLst/>
            <a:rect l="l" t="t" r="r" b="b"/>
            <a:pathLst>
              <a:path w="10668000" h="6477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571500"/>
                </a:lnTo>
                <a:cubicBezTo>
                  <a:pt x="10668000" y="613584"/>
                  <a:pt x="10633884" y="647700"/>
                  <a:pt x="10591800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Box 59"/>
          <p:cNvSpPr txBox="1"/>
          <p:nvPr/>
        </p:nvSpPr>
        <p:spPr>
          <a:xfrm>
            <a:off x="2289886" y="5804535"/>
            <a:ext cx="7612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Key insight: all geometry of the target polygon is encoded in the exponents (αk − 1).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863150" y="6050756"/>
            <a:ext cx="84657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AFAF8">
                    <a:alpha val="85000"/>
                  </a:srgbClr>
                </a:solidFill>
                <a:latin typeface="Times New Roman"/>
                <a:ea typeface="SimSun"/>
                <a:cs typeface="Times New Roman"/>
              </a:rPr>
              <a:t>Segments of ℝ between pre-vertices map to straight edges; vertices to corners with prescribed angles.</a:t>
            </a:r>
          </a:p>
        </p:txBody>
      </p:sp>
      <p:sp>
        <p:nvSpPr>
          <p:cNvPr id="61" name="Rectangle 61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Box 62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5330" y="259080"/>
            <a:ext cx="86196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Adding an Obstacle: Method of Images + Milne-Thomson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385" y="38052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776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5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952500"/>
            <a:ext cx="57150" cy="1714500"/>
          </a:xfrm>
          <a:custGeom>
            <a:avLst/>
            <a:gdLst/>
            <a:ahLst/>
            <a:cxnLst/>
            <a:rect l="l" t="t" r="r" b="b"/>
            <a:pathLst>
              <a:path w="57150" h="1714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685925"/>
                </a:lnTo>
                <a:cubicBezTo>
                  <a:pt x="57150" y="1701707"/>
                  <a:pt x="44357" y="1714500"/>
                  <a:pt x="28575" y="1714500"/>
                </a:cubicBezTo>
                <a:lnTo>
                  <a:pt x="28575" y="1714500"/>
                </a:lnTo>
                <a:cubicBezTo>
                  <a:pt x="12793" y="1714500"/>
                  <a:pt x="0" y="1701707"/>
                  <a:pt x="0" y="1685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763905" y="1073468"/>
            <a:ext cx="1783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Method of Images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5810" y="1318260"/>
            <a:ext cx="32903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To enforce Im W = 0 on ∂ℍ = ℝ, pair any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5810" y="1527810"/>
            <a:ext cx="39825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singularity at s ∈ ℍ with its mirror at s̄ ∈ ℍ⁻: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1050" y="17907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628650"/>
                </a:lnTo>
                <a:cubicBezTo>
                  <a:pt x="4953000" y="660213"/>
                  <a:pt x="4927413" y="685800"/>
                  <a:pt x="4895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4"/>
          <p:cNvSpPr/>
          <p:nvPr/>
        </p:nvSpPr>
        <p:spPr>
          <a:xfrm>
            <a:off x="781050" y="1790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66750"/>
                </a:lnTo>
                <a:cubicBezTo>
                  <a:pt x="38100" y="677271"/>
                  <a:pt x="29571" y="685800"/>
                  <a:pt x="19050" y="685800"/>
                </a:cubicBezTo>
                <a:lnTo>
                  <a:pt x="19050" y="685800"/>
                </a:lnTo>
                <a:cubicBezTo>
                  <a:pt x="8529" y="685800"/>
                  <a:pt x="0" y="677271"/>
                  <a:pt x="0" y="666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1828800"/>
            <a:ext cx="3363278" cy="619125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66762" y="2526506"/>
            <a:ext cx="50892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Result: Im W = 0 on ℝ for all x ∈ ℝ (conjugate arguments cancel)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714625"/>
            <a:ext cx="57150" cy="1905000"/>
          </a:xfrm>
          <a:custGeom>
            <a:avLst/>
            <a:gdLst/>
            <a:ahLst/>
            <a:cxnLst/>
            <a:rect l="l" t="t" r="r" b="b"/>
            <a:pathLst>
              <a:path w="57150" h="1905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876425"/>
                </a:lnTo>
                <a:cubicBezTo>
                  <a:pt x="57150" y="1892207"/>
                  <a:pt x="44357" y="1905000"/>
                  <a:pt x="28575" y="1905000"/>
                </a:cubicBezTo>
                <a:lnTo>
                  <a:pt x="28575" y="1905000"/>
                </a:lnTo>
                <a:cubicBezTo>
                  <a:pt x="12793" y="1905000"/>
                  <a:pt x="0" y="1892207"/>
                  <a:pt x="0" y="1876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63905" y="2835592"/>
            <a:ext cx="3729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Milne-Thomson Circle Theorem (1940)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5810" y="3089910"/>
            <a:ext cx="40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Given W₀(ζ) analytic outside disk D of radius a:</a:t>
            </a:r>
          </a:p>
        </p:txBody>
      </p:sp>
      <p:sp>
        <p:nvSpPr>
          <p:cNvPr id="20" name="Freeform 20"/>
          <p:cNvSpPr/>
          <p:nvPr/>
        </p:nvSpPr>
        <p:spPr>
          <a:xfrm>
            <a:off x="781050" y="33528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628650"/>
                </a:lnTo>
                <a:cubicBezTo>
                  <a:pt x="4953000" y="660213"/>
                  <a:pt x="4927413" y="685800"/>
                  <a:pt x="4895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Freeform 21"/>
          <p:cNvSpPr/>
          <p:nvPr/>
        </p:nvSpPr>
        <p:spPr>
          <a:xfrm>
            <a:off x="781050" y="33528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66750"/>
                </a:lnTo>
                <a:cubicBezTo>
                  <a:pt x="38100" y="677271"/>
                  <a:pt x="29571" y="685800"/>
                  <a:pt x="19050" y="685800"/>
                </a:cubicBezTo>
                <a:lnTo>
                  <a:pt x="19050" y="685800"/>
                </a:lnTo>
                <a:cubicBezTo>
                  <a:pt x="8529" y="685800"/>
                  <a:pt x="0" y="677271"/>
                  <a:pt x="0" y="666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368" y="3390900"/>
            <a:ext cx="2729865" cy="609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766762" y="4069556"/>
            <a:ext cx="35365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Im W^ext = 0 on ∂D (circle is a streamline)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6762" y="4241006"/>
            <a:ext cx="2895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Same singularities outside D as W₀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591050"/>
            <a:ext cx="57150" cy="1714500"/>
          </a:xfrm>
          <a:custGeom>
            <a:avLst/>
            <a:gdLst/>
            <a:ahLst/>
            <a:cxnLst/>
            <a:rect l="l" t="t" r="r" b="b"/>
            <a:pathLst>
              <a:path w="57150" h="1714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685925"/>
                </a:lnTo>
                <a:cubicBezTo>
                  <a:pt x="57150" y="1701707"/>
                  <a:pt x="44357" y="1714500"/>
                  <a:pt x="28575" y="1714500"/>
                </a:cubicBezTo>
                <a:lnTo>
                  <a:pt x="28575" y="1714500"/>
                </a:lnTo>
                <a:cubicBezTo>
                  <a:pt x="12793" y="1714500"/>
                  <a:pt x="0" y="1701707"/>
                  <a:pt x="0" y="1685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63905" y="4692968"/>
            <a:ext cx="3170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Combined: Urban Flow Potential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5810" y="4918710"/>
            <a:ext cx="36495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For W₀ = Uζ (uniform flow in ℍ), combining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5810" y="5109210"/>
            <a:ext cx="35707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MT theorem with method of images gives:</a:t>
            </a:r>
          </a:p>
        </p:txBody>
      </p:sp>
      <p:sp>
        <p:nvSpPr>
          <p:cNvPr id="29" name="Freeform 29"/>
          <p:cNvSpPr/>
          <p:nvPr/>
        </p:nvSpPr>
        <p:spPr>
          <a:xfrm>
            <a:off x="781050" y="5353050"/>
            <a:ext cx="4953000" cy="781050"/>
          </a:xfrm>
          <a:custGeom>
            <a:avLst/>
            <a:gdLst/>
            <a:ahLst/>
            <a:cxnLst/>
            <a:rect l="l" t="t" r="r" b="b"/>
            <a:pathLst>
              <a:path w="4953000" h="7810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23900"/>
                </a:lnTo>
                <a:cubicBezTo>
                  <a:pt x="4953000" y="755463"/>
                  <a:pt x="4927413" y="781050"/>
                  <a:pt x="4895850" y="781050"/>
                </a:cubicBezTo>
                <a:lnTo>
                  <a:pt x="57150" y="781050"/>
                </a:lnTo>
                <a:cubicBezTo>
                  <a:pt x="25587" y="781050"/>
                  <a:pt x="0" y="755463"/>
                  <a:pt x="0" y="723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782" y="5391150"/>
            <a:ext cx="2871788" cy="704850"/>
          </a:xfrm>
          <a:prstGeom prst="rect">
            <a:avLst/>
          </a:prstGeom>
        </p:spPr>
      </p:pic>
      <p:sp>
        <p:nvSpPr>
          <p:cNvPr id="31" name="Line 31"/>
          <p:cNvSpPr/>
          <p:nvPr/>
        </p:nvSpPr>
        <p:spPr>
          <a:xfrm>
            <a:off x="6096000" y="876300"/>
            <a:ext cx="9525" cy="5600700"/>
          </a:xfrm>
          <a:custGeom>
            <a:avLst/>
            <a:gdLst/>
            <a:ahLst/>
            <a:cxnLst/>
            <a:rect l="l" t="t" r="r" b="b"/>
            <a:pathLst>
              <a:path w="9525" h="5600700">
                <a:moveTo>
                  <a:pt x="0" y="0"/>
                </a:moveTo>
                <a:lnTo>
                  <a:pt x="0" y="560070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271260" y="994410"/>
            <a:ext cx="33796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Image construction in ℍ (schematic):</a:t>
            </a:r>
          </a:p>
        </p:txBody>
      </p:sp>
      <p:pic>
        <p:nvPicPr>
          <p:cNvPr id="33" name="Imag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470" y="1219200"/>
            <a:ext cx="4289108" cy="4114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7525488" y="5363528"/>
            <a:ext cx="2856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Red: obstacle ζ₀ and circle |ζ−ζ₀| = 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59993" y="5534978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Blue: mirror ζ̄₀ in lower half-plane.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4308" y="5706428"/>
            <a:ext cx="30783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Green: streamlines bend around obstacle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45299" y="5877878"/>
            <a:ext cx="32164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while satisfying both boundary conditions.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4378" y="222409"/>
            <a:ext cx="8076923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Uniform Flow W = Uζ in the Boulder County Polygon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385" y="351949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395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6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98220"/>
            <a:ext cx="5286375" cy="3928110"/>
          </a:xfrm>
          <a:prstGeom prst="rect">
            <a:avLst/>
          </a:prstGeom>
        </p:spPr>
      </p:pic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007745"/>
            <a:ext cx="5286375" cy="3909060"/>
          </a:xfrm>
          <a:prstGeom prst="rect">
            <a:avLst/>
          </a:prstGeom>
        </p:spPr>
      </p:pic>
      <p:sp>
        <p:nvSpPr>
          <p:cNvPr id="11" name="Line 11"/>
          <p:cNvSpPr/>
          <p:nvPr/>
        </p:nvSpPr>
        <p:spPr>
          <a:xfrm>
            <a:off x="6096000" y="857250"/>
            <a:ext cx="9525" cy="4210050"/>
          </a:xfrm>
          <a:custGeom>
            <a:avLst/>
            <a:gdLst/>
            <a:ahLst/>
            <a:cxnLst/>
            <a:rect l="l" t="t" r="r" b="b"/>
            <a:pathLst>
              <a:path w="9525" h="4210050">
                <a:moveTo>
                  <a:pt x="0" y="0"/>
                </a:moveTo>
                <a:lnTo>
                  <a:pt x="0" y="421005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2049142" y="5109210"/>
            <a:ext cx="23215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(a) Streamlines ψ = const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165" y="5315902"/>
            <a:ext cx="41595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Stay inside ∂Ω — no-penetration exact by construction.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953" y="5487352"/>
            <a:ext cx="48879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Closed appearance: topological consequence of f : ℍ → bounded Ω.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26355" y="5109210"/>
            <a:ext cx="4511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(b) Conformal grid (streamlines + equipotentials)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20217" y="5315902"/>
            <a:ext cx="57237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Orthogonality throughout interior: definitive visual proof of conformality.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99444" y="5487352"/>
            <a:ext cx="47652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Consequence of Cauchy–Riemann equations wherever f '(ζ) ≠ 0.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581025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47675"/>
                </a:lnTo>
                <a:cubicBezTo>
                  <a:pt x="11049000" y="489759"/>
                  <a:pt x="11014884" y="523875"/>
                  <a:pt x="109728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Freeform 19"/>
          <p:cNvSpPr/>
          <p:nvPr/>
        </p:nvSpPr>
        <p:spPr>
          <a:xfrm>
            <a:off x="571500" y="5810250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04825"/>
                </a:lnTo>
                <a:cubicBezTo>
                  <a:pt x="38100" y="515346"/>
                  <a:pt x="29571" y="523875"/>
                  <a:pt x="19050" y="523875"/>
                </a:cubicBezTo>
                <a:lnTo>
                  <a:pt x="19050" y="523875"/>
                </a:lnTo>
                <a:cubicBezTo>
                  <a:pt x="8529" y="523875"/>
                  <a:pt x="0" y="515346"/>
                  <a:pt x="0" y="5048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Freeform 20"/>
          <p:cNvSpPr/>
          <p:nvPr/>
        </p:nvSpPr>
        <p:spPr>
          <a:xfrm>
            <a:off x="742671" y="5965825"/>
            <a:ext cx="228879" cy="203200"/>
          </a:xfrm>
          <a:custGeom>
            <a:avLst/>
            <a:gdLst/>
            <a:ahLst/>
            <a:cxnLst/>
            <a:rect l="l" t="t" r="r" b="b"/>
            <a:pathLst>
              <a:path w="228879" h="203200">
                <a:moveTo>
                  <a:pt x="228879" y="101600"/>
                </a:moveTo>
                <a:lnTo>
                  <a:pt x="203479" y="101600"/>
                </a:lnTo>
                <a:cubicBezTo>
                  <a:pt x="192126" y="101600"/>
                  <a:pt x="182372" y="90716"/>
                  <a:pt x="181115" y="76200"/>
                </a:cubicBezTo>
                <a:cubicBezTo>
                  <a:pt x="177356" y="32385"/>
                  <a:pt x="171602" y="0"/>
                  <a:pt x="146202" y="0"/>
                </a:cubicBezTo>
                <a:cubicBezTo>
                  <a:pt x="120802" y="0"/>
                  <a:pt x="114452" y="45491"/>
                  <a:pt x="114452" y="101600"/>
                </a:cubicBezTo>
                <a:cubicBezTo>
                  <a:pt x="114452" y="157709"/>
                  <a:pt x="108102" y="203200"/>
                  <a:pt x="82702" y="203200"/>
                </a:cubicBezTo>
                <a:cubicBezTo>
                  <a:pt x="57302" y="203200"/>
                  <a:pt x="51562" y="170853"/>
                  <a:pt x="47790" y="127000"/>
                </a:cubicBezTo>
                <a:cubicBezTo>
                  <a:pt x="46520" y="112433"/>
                  <a:pt x="36779" y="101600"/>
                  <a:pt x="25400" y="101600"/>
                </a:cubicBezTo>
                <a:lnTo>
                  <a:pt x="0" y="101600"/>
                </a:lnTo>
              </a:path>
            </a:pathLst>
          </a:custGeom>
          <a:noFill/>
          <a:ln w="19050">
            <a:solidFill>
              <a:srgbClr val="FAFAF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2682570" y="5958364"/>
            <a:ext cx="6826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The SC map converts an intractable PDE on Ω into a solved problem in ℍ 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68250" y="6155531"/>
            <a:ext cx="685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AFAF8">
                    <a:alpha val="85000"/>
                  </a:srgbClr>
                </a:solidFill>
                <a:latin typeface="Times New Roman"/>
                <a:ea typeface="SimSun"/>
                <a:cs typeface="Times New Roman"/>
              </a:rPr>
              <a:t>boundary conditions are satisfied automatically, with no per-pixel Newton iteration.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4378" y="222409"/>
            <a:ext cx="654263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Why Numerical? The SC Crowding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519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395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7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554355" y="1397318"/>
            <a:ext cx="21356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What is SC Crowding?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5308" y="1634014"/>
            <a:ext cx="40732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Pre-vertices {ζk} cluster exponentially on 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5308" y="1843564"/>
            <a:ext cx="39521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when the polygon has unequal edge lengths.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114550"/>
            <a:ext cx="5334000" cy="914400"/>
          </a:xfrm>
          <a:custGeom>
            <a:avLst/>
            <a:gdLst/>
            <a:ahLst/>
            <a:cxnLst/>
            <a:rect l="l" t="t" r="r" b="b"/>
            <a:pathLst>
              <a:path w="5334000" h="9144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57250"/>
                </a:lnTo>
                <a:cubicBezTo>
                  <a:pt x="5334000" y="888813"/>
                  <a:pt x="5308413" y="914400"/>
                  <a:pt x="5276850" y="914400"/>
                </a:cubicBezTo>
                <a:lnTo>
                  <a:pt x="57150" y="914400"/>
                </a:lnTo>
                <a:cubicBezTo>
                  <a:pt x="25587" y="914400"/>
                  <a:pt x="0" y="888813"/>
                  <a:pt x="0" y="857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8"/>
          <p:cNvSpPr/>
          <p:nvPr/>
        </p:nvSpPr>
        <p:spPr>
          <a:xfrm>
            <a:off x="571500" y="2114550"/>
            <a:ext cx="47625" cy="914400"/>
          </a:xfrm>
          <a:custGeom>
            <a:avLst/>
            <a:gdLst/>
            <a:ahLst/>
            <a:cxnLst/>
            <a:rect l="l" t="t" r="r" b="b"/>
            <a:pathLst>
              <a:path w="47625" h="9144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895350"/>
                </a:lnTo>
                <a:cubicBezTo>
                  <a:pt x="47625" y="905871"/>
                  <a:pt x="39096" y="914400"/>
                  <a:pt x="28575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190750"/>
            <a:ext cx="3562350" cy="800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385614" y="3057049"/>
            <a:ext cx="37057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pre-vertex spacing for a rectangle of aspect ratio 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5308" y="3310414"/>
            <a:ext cx="23591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Why it limits the solver: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3581400"/>
            <a:ext cx="5334000" cy="533400"/>
          </a:xfrm>
          <a:custGeom>
            <a:avLst/>
            <a:gdLst/>
            <a:ahLst/>
            <a:cxnLst/>
            <a:rect l="l" t="t" r="r" b="b"/>
            <a:pathLst>
              <a:path w="5334000" h="5334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476250"/>
                </a:lnTo>
                <a:cubicBezTo>
                  <a:pt x="5334000" y="507813"/>
                  <a:pt x="5308413" y="533400"/>
                  <a:pt x="52768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Freeform 23"/>
          <p:cNvSpPr/>
          <p:nvPr/>
        </p:nvSpPr>
        <p:spPr>
          <a:xfrm>
            <a:off x="571500" y="3581400"/>
            <a:ext cx="47625" cy="533400"/>
          </a:xfrm>
          <a:custGeom>
            <a:avLst/>
            <a:gdLst/>
            <a:ahLst/>
            <a:cxnLst/>
            <a:rect l="l" t="t" r="r" b="b"/>
            <a:pathLst>
              <a:path w="47625" h="5334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514350"/>
                </a:lnTo>
                <a:cubicBezTo>
                  <a:pt x="47625" y="524871"/>
                  <a:pt x="39096" y="533400"/>
                  <a:pt x="28575" y="533400"/>
                </a:cubicBezTo>
                <a:lnTo>
                  <a:pt x="19050" y="533400"/>
                </a:lnTo>
                <a:cubicBezTo>
                  <a:pt x="8529" y="533400"/>
                  <a:pt x="0" y="524871"/>
                  <a:pt x="0" y="514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46760" y="3680460"/>
            <a:ext cx="3605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Spacing &lt; 10⁻⁴ at L ≈ 4; below 10⁻⁸ at L ≈ 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6760" y="3890010"/>
            <a:ext cx="57702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Beyond L ≳ 10 → double-precision limit → ill-posed parameter problem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219575"/>
            <a:ext cx="5334000" cy="533400"/>
          </a:xfrm>
          <a:custGeom>
            <a:avLst/>
            <a:gdLst/>
            <a:ahLst/>
            <a:cxnLst/>
            <a:rect l="l" t="t" r="r" b="b"/>
            <a:pathLst>
              <a:path w="5334000" h="5334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476250"/>
                </a:lnTo>
                <a:cubicBezTo>
                  <a:pt x="5334000" y="507813"/>
                  <a:pt x="5308413" y="533400"/>
                  <a:pt x="52768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Freeform 27"/>
          <p:cNvSpPr/>
          <p:nvPr/>
        </p:nvSpPr>
        <p:spPr>
          <a:xfrm>
            <a:off x="571500" y="4219575"/>
            <a:ext cx="47625" cy="533400"/>
          </a:xfrm>
          <a:custGeom>
            <a:avLst/>
            <a:gdLst/>
            <a:ahLst/>
            <a:cxnLst/>
            <a:rect l="l" t="t" r="r" b="b"/>
            <a:pathLst>
              <a:path w="47625" h="5334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514350"/>
                </a:lnTo>
                <a:cubicBezTo>
                  <a:pt x="47625" y="524871"/>
                  <a:pt x="39096" y="533400"/>
                  <a:pt x="28575" y="533400"/>
                </a:cubicBezTo>
                <a:lnTo>
                  <a:pt x="19050" y="533400"/>
                </a:lnTo>
                <a:cubicBezTo>
                  <a:pt x="8529" y="533400"/>
                  <a:pt x="0" y="524871"/>
                  <a:pt x="0" y="514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46760" y="4328160"/>
            <a:ext cx="50867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Limits SC solvers to n ≲ 20 vertices with mild aspect ratios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4537710"/>
            <a:ext cx="60944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Not an artifact — rigid complex-analytic invariant (conformal modulus)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485775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666750"/>
                </a:lnTo>
                <a:cubicBezTo>
                  <a:pt x="5334000" y="698313"/>
                  <a:pt x="5308413" y="723900"/>
                  <a:pt x="5276850" y="723900"/>
                </a:cubicBezTo>
                <a:lnTo>
                  <a:pt x="57150" y="723900"/>
                </a:lnTo>
                <a:cubicBezTo>
                  <a:pt x="25587" y="723900"/>
                  <a:pt x="0" y="698313"/>
                  <a:pt x="0" y="666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162202" y="4956810"/>
            <a:ext cx="4152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→ Boulder County: 2752 vertices must simplify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6985" y="5174456"/>
            <a:ext cx="42430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AFAF8">
                    <a:alpha val="85000"/>
                  </a:srgbClr>
                </a:solidFill>
                <a:latin typeface="Times New Roman"/>
                <a:ea typeface="SimSun"/>
                <a:cs typeface="Times New Roman"/>
              </a:rPr>
              <a:t>to n = 12 polygon (angles confined to [0.35π, 1.75π])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4425" y="5354002"/>
            <a:ext cx="38681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AFAF8">
                    <a:alpha val="65000"/>
                  </a:srgbClr>
                </a:solidFill>
                <a:latin typeface="Times New Roman"/>
                <a:ea typeface="SimSun"/>
                <a:cs typeface="Times New Roman"/>
              </a:rPr>
              <a:t>keeping conformal modulus within the stable regime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7212" y="5707856"/>
            <a:ext cx="26854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471A3"/>
                </a:solidFill>
                <a:latin typeface="Georgia"/>
                <a:ea typeface="SimSun"/>
                <a:cs typeface="Georgia"/>
              </a:rPr>
              <a:t>Conformal Modulus (invariant):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165" y="5915978"/>
            <a:ext cx="4519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Rectangle R: modulus m(R) = 2K/K' is conformally invariant.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8165" y="6096952"/>
            <a:ext cx="551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Pre-vertices related to m(R) via complete elliptic integrals K(k), K'(k).</a:t>
            </a:r>
          </a:p>
        </p:txBody>
      </p:sp>
      <p:sp>
        <p:nvSpPr>
          <p:cNvPr id="37" name="Line 37"/>
          <p:cNvSpPr/>
          <p:nvPr/>
        </p:nvSpPr>
        <p:spPr>
          <a:xfrm>
            <a:off x="6191250" y="876300"/>
            <a:ext cx="9525" cy="5410200"/>
          </a:xfrm>
          <a:custGeom>
            <a:avLst/>
            <a:gdLst/>
            <a:ahLst/>
            <a:cxnLst/>
            <a:rect l="l" t="t" r="r" b="b"/>
            <a:pathLst>
              <a:path w="9525" h="5410200">
                <a:moveTo>
                  <a:pt x="0" y="0"/>
                </a:moveTo>
                <a:lnTo>
                  <a:pt x="0" y="541020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318885" y="975360"/>
            <a:ext cx="33981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Pre-vertex spacing vs. aspect ratio:</a:t>
            </a:r>
          </a:p>
        </p:txBody>
      </p:sp>
      <p:pic>
        <p:nvPicPr>
          <p:cNvPr id="39" name="Imag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655445"/>
            <a:ext cx="5448300" cy="331851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6932235" y="5438299"/>
            <a:ext cx="41187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Blue: exact spacing; grey dashed: asymptotic 8e^(−πL/2);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3030" y="5590699"/>
            <a:ext cx="2837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red circles: recovered by our SC solver.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71716" y="5762149"/>
            <a:ext cx="42397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Orange line: 10⁻⁸ threshold — below this, LM cannot resolve.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425" y="214312"/>
            <a:ext cx="581937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Boulder County: 2752 → 12 Vertices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519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395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8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933450"/>
            <a:ext cx="2571750" cy="1095375"/>
          </a:xfrm>
          <a:custGeom>
            <a:avLst/>
            <a:gdLst/>
            <a:ahLst/>
            <a:cxnLst/>
            <a:rect l="l" t="t" r="r" b="b"/>
            <a:pathLst>
              <a:path w="2571750" h="109537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019175"/>
                </a:lnTo>
                <a:cubicBezTo>
                  <a:pt x="2571750" y="1061259"/>
                  <a:pt x="2537634" y="1095375"/>
                  <a:pt x="2495550" y="1095375"/>
                </a:cubicBezTo>
                <a:lnTo>
                  <a:pt x="76200" y="1095375"/>
                </a:lnTo>
                <a:cubicBezTo>
                  <a:pt x="34116" y="1095375"/>
                  <a:pt x="0" y="1061259"/>
                  <a:pt x="0" y="1019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571500" y="933450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278079" y="1069181"/>
            <a:ext cx="11585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Raw Boundary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6461" y="120205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2752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9449" y="1553528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TIGER/Line vertices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2319" y="1733074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raw county boundary</a:t>
            </a:r>
          </a:p>
        </p:txBody>
      </p:sp>
      <p:sp>
        <p:nvSpPr>
          <p:cNvPr id="15" name="Line 15"/>
          <p:cNvSpPr/>
          <p:nvPr/>
        </p:nvSpPr>
        <p:spPr>
          <a:xfrm>
            <a:off x="3143250" y="1476375"/>
            <a:ext cx="409575" cy="1"/>
          </a:xfrm>
          <a:prstGeom prst="line">
            <a:avLst/>
          </a:prstGeom>
          <a:noFill/>
          <a:ln w="23812">
            <a:solidFill>
              <a:srgbClr val="1B3A6B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223403" y="13030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471A3"/>
                </a:solidFill>
                <a:latin typeface="Times New Roman"/>
                <a:ea typeface="SimSun"/>
                <a:cs typeface="Times New Roman"/>
              </a:rPr>
              <a:t>D–P</a:t>
            </a:r>
          </a:p>
        </p:txBody>
      </p:sp>
      <p:sp>
        <p:nvSpPr>
          <p:cNvPr id="17" name="Freeform 17"/>
          <p:cNvSpPr/>
          <p:nvPr/>
        </p:nvSpPr>
        <p:spPr>
          <a:xfrm>
            <a:off x="3571875" y="933450"/>
            <a:ext cx="2571750" cy="1095375"/>
          </a:xfrm>
          <a:custGeom>
            <a:avLst/>
            <a:gdLst/>
            <a:ahLst/>
            <a:cxnLst/>
            <a:rect l="l" t="t" r="r" b="b"/>
            <a:pathLst>
              <a:path w="2571750" h="109537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019175"/>
                </a:lnTo>
                <a:cubicBezTo>
                  <a:pt x="2571750" y="1061259"/>
                  <a:pt x="2537634" y="1095375"/>
                  <a:pt x="2495550" y="1095375"/>
                </a:cubicBezTo>
                <a:lnTo>
                  <a:pt x="76200" y="1095375"/>
                </a:lnTo>
                <a:cubicBezTo>
                  <a:pt x="34116" y="1095375"/>
                  <a:pt x="0" y="1061259"/>
                  <a:pt x="0" y="1019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8"/>
          <p:cNvSpPr/>
          <p:nvPr/>
        </p:nvSpPr>
        <p:spPr>
          <a:xfrm>
            <a:off x="3571875" y="933450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153376" y="106918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471A3"/>
                </a:solidFill>
                <a:latin typeface="Georgia"/>
                <a:ea typeface="SimSun"/>
                <a:cs typeface="Georgia"/>
              </a:rPr>
              <a:t>Douglas–Peucker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94213" y="12020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46661" y="155352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vertices remaining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3893" y="1733074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adaptive tolerance</a:t>
            </a:r>
          </a:p>
        </p:txBody>
      </p:sp>
      <p:sp>
        <p:nvSpPr>
          <p:cNvPr id="23" name="Line 23"/>
          <p:cNvSpPr/>
          <p:nvPr/>
        </p:nvSpPr>
        <p:spPr>
          <a:xfrm>
            <a:off x="6143625" y="1476375"/>
            <a:ext cx="409575" cy="1"/>
          </a:xfrm>
          <a:prstGeom prst="line">
            <a:avLst/>
          </a:prstGeom>
          <a:noFill/>
          <a:ln w="23812">
            <a:solidFill>
              <a:srgbClr val="1B3A6B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148197" y="1303020"/>
            <a:ext cx="390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471A3"/>
                </a:solidFill>
                <a:latin typeface="Times New Roman"/>
                <a:ea typeface="SimSun"/>
                <a:cs typeface="Times New Roman"/>
              </a:rPr>
              <a:t>filter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6572250" y="933450"/>
            <a:ext cx="2571750" cy="1095375"/>
          </a:xfrm>
          <a:custGeom>
            <a:avLst/>
            <a:gdLst/>
            <a:ahLst/>
            <a:cxnLst/>
            <a:rect l="l" t="t" r="r" b="b"/>
            <a:pathLst>
              <a:path w="2571750" h="109537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019175"/>
                </a:lnTo>
                <a:cubicBezTo>
                  <a:pt x="2571750" y="1061259"/>
                  <a:pt x="2537634" y="1095375"/>
                  <a:pt x="2495550" y="1095375"/>
                </a:cubicBezTo>
                <a:lnTo>
                  <a:pt x="76200" y="1095375"/>
                </a:lnTo>
                <a:cubicBezTo>
                  <a:pt x="34116" y="1095375"/>
                  <a:pt x="0" y="1061259"/>
                  <a:pt x="0" y="1019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Freeform 26"/>
          <p:cNvSpPr/>
          <p:nvPr/>
        </p:nvSpPr>
        <p:spPr>
          <a:xfrm>
            <a:off x="6572250" y="933450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240012" y="10691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7AE60"/>
                </a:solidFill>
                <a:latin typeface="Georgia"/>
                <a:ea typeface="SimSun"/>
                <a:cs typeface="Georgia"/>
              </a:rPr>
              <a:t>Angle Filtering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94588" y="12020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31059" y="1553528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final vertices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72908" y="1733074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αk ∈ [0.35π, 1.75π]</a:t>
            </a:r>
          </a:p>
        </p:txBody>
      </p:sp>
      <p:sp>
        <p:nvSpPr>
          <p:cNvPr id="31" name="Line 31"/>
          <p:cNvSpPr/>
          <p:nvPr/>
        </p:nvSpPr>
        <p:spPr>
          <a:xfrm>
            <a:off x="9144000" y="1476375"/>
            <a:ext cx="409575" cy="1"/>
          </a:xfrm>
          <a:prstGeom prst="line">
            <a:avLst/>
          </a:prstGeom>
          <a:noFill/>
          <a:ln w="23812">
            <a:solidFill>
              <a:srgbClr val="1B3A6B"/>
            </a:solidFill>
            <a:tailEnd type="triangle" w="lg" len="lg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Freeform 32"/>
          <p:cNvSpPr/>
          <p:nvPr/>
        </p:nvSpPr>
        <p:spPr>
          <a:xfrm>
            <a:off x="9572625" y="933450"/>
            <a:ext cx="2238375" cy="1095375"/>
          </a:xfrm>
          <a:custGeom>
            <a:avLst/>
            <a:gdLst/>
            <a:ahLst/>
            <a:cxnLst/>
            <a:rect l="l" t="t" r="r" b="b"/>
            <a:pathLst>
              <a:path w="2238375" h="1095375">
                <a:moveTo>
                  <a:pt x="76200" y="0"/>
                </a:moveTo>
                <a:lnTo>
                  <a:pt x="2162175" y="0"/>
                </a:lnTo>
                <a:cubicBezTo>
                  <a:pt x="2204259" y="0"/>
                  <a:pt x="2238375" y="34116"/>
                  <a:pt x="2238375" y="76200"/>
                </a:cubicBezTo>
                <a:lnTo>
                  <a:pt x="2238375" y="1019175"/>
                </a:lnTo>
                <a:cubicBezTo>
                  <a:pt x="2238375" y="1061259"/>
                  <a:pt x="2204259" y="1095375"/>
                  <a:pt x="2162175" y="1095375"/>
                </a:cubicBezTo>
                <a:lnTo>
                  <a:pt x="76200" y="1095375"/>
                </a:lnTo>
                <a:cubicBezTo>
                  <a:pt x="34116" y="1095375"/>
                  <a:pt x="0" y="1061259"/>
                  <a:pt x="0" y="1019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10293215" y="1069181"/>
            <a:ext cx="7876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SC-Ready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02247" y="1321118"/>
            <a:ext cx="13696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n = 12 Polygon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65101" y="158210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AFAF8">
                    <a:alpha val="75000"/>
                  </a:srgbClr>
                </a:solidFill>
                <a:latin typeface="Times New Roman"/>
                <a:ea typeface="SimSun"/>
                <a:cs typeface="Times New Roman"/>
              </a:rPr>
              <a:t>normalised to O(1) scale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33468" y="1753552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AFAF8">
                    <a:alpha val="75000"/>
                  </a:srgbClr>
                </a:solidFill>
                <a:latin typeface="Times New Roman"/>
                <a:ea typeface="SimSun"/>
                <a:cs typeface="Times New Roman"/>
              </a:rPr>
              <a:t>centred at origin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24080" y="2145506"/>
            <a:ext cx="5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5D6D7E"/>
                </a:solidFill>
                <a:latin typeface="Georgia"/>
                <a:ea typeface="SimSun"/>
                <a:cs typeface="Georgia"/>
              </a:rPr>
              <a:t>Boulder County boundary: before and after SC preprocessing</a:t>
            </a:r>
          </a:p>
        </p:txBody>
      </p:sp>
      <p:pic>
        <p:nvPicPr>
          <p:cNvPr id="38" name="Imag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818" y="2362200"/>
            <a:ext cx="9017318" cy="3810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855899" y="6220778"/>
            <a:ext cx="29557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Left: 2752-vertex TIGER/Line boundary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52173" y="6220778"/>
            <a:ext cx="52406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Right: 12-vertex SC polygon — dominant geometric features preserved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425" y="214312"/>
            <a:ext cx="51810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Solving the Parameter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519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64670" y="53959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9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Box 9"/>
          <p:cNvSpPr txBox="1"/>
          <p:nvPr/>
        </p:nvSpPr>
        <p:spPr>
          <a:xfrm>
            <a:off x="556260" y="965835"/>
            <a:ext cx="69313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Goal: Find 9 free pre-vertices ζ₂,…,ζ₁₀ ∈ (0,1)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257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71450" y="0"/>
                </a:lnTo>
                <a:cubicBezTo>
                  <a:pt x="266139" y="0"/>
                  <a:pt x="342900" y="76761"/>
                  <a:pt x="342900" y="171450"/>
                </a:cubicBezTo>
                <a:lnTo>
                  <a:pt x="342900" y="171450"/>
                </a:lnTo>
                <a:cubicBezTo>
                  <a:pt x="342900" y="266139"/>
                  <a:pt x="266139" y="342900"/>
                  <a:pt x="1714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94751" y="134016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0608" y="1272064"/>
            <a:ext cx="27599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Softmax Reparameterisation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58" y="1476375"/>
            <a:ext cx="3231832" cy="800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3465" y="2267902"/>
            <a:ext cx="60074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→ Ordering + box constraints automatic; unconstrained optimisation over p ∈ ℝ⁹</a:t>
            </a:r>
          </a:p>
        </p:txBody>
      </p:sp>
      <p:sp>
        <p:nvSpPr>
          <p:cNvPr id="15" name="Line 15"/>
          <p:cNvSpPr/>
          <p:nvPr/>
        </p:nvSpPr>
        <p:spPr>
          <a:xfrm>
            <a:off x="742950" y="1905000"/>
            <a:ext cx="9525" cy="685800"/>
          </a:xfrm>
          <a:custGeom>
            <a:avLst/>
            <a:gdLst/>
            <a:ahLst/>
            <a:cxnLst/>
            <a:rect l="l" t="t" r="r" b="b"/>
            <a:pathLst>
              <a:path w="952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4288">
            <a:solidFill>
              <a:srgbClr val="2471A3"/>
            </a:solidFill>
            <a:custDash>
              <a:ds d="266666" sp="200000"/>
            </a:custDash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Freeform 16"/>
          <p:cNvSpPr/>
          <p:nvPr/>
        </p:nvSpPr>
        <p:spPr>
          <a:xfrm>
            <a:off x="571500" y="259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71450" y="0"/>
                </a:lnTo>
                <a:cubicBezTo>
                  <a:pt x="266139" y="0"/>
                  <a:pt x="342900" y="76761"/>
                  <a:pt x="342900" y="171450"/>
                </a:cubicBezTo>
                <a:lnTo>
                  <a:pt x="342900" y="171450"/>
                </a:lnTo>
                <a:cubicBezTo>
                  <a:pt x="342900" y="266139"/>
                  <a:pt x="266139" y="342900"/>
                  <a:pt x="1714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68873" y="26736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0608" y="2605564"/>
            <a:ext cx="27110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Gauss–Legendre Quadrature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2512" y="2831306"/>
            <a:ext cx="35940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N = 500 nodes, affine-rescaled to [ζk, ζk+1]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2512" y="3021806"/>
            <a:ext cx="4144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Each side-length Lk = single vectorised dot product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3465" y="3220402"/>
            <a:ext cx="5348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Accuracy O(N⁻¹) ≈ 2×10⁻³ per sub-integral (plain GL, no endpoint sub.)</a:t>
            </a:r>
          </a:p>
        </p:txBody>
      </p:sp>
      <p:sp>
        <p:nvSpPr>
          <p:cNvPr id="22" name="Line 22"/>
          <p:cNvSpPr/>
          <p:nvPr/>
        </p:nvSpPr>
        <p:spPr>
          <a:xfrm>
            <a:off x="742950" y="2933700"/>
            <a:ext cx="9525" cy="628650"/>
          </a:xfrm>
          <a:custGeom>
            <a:avLst/>
            <a:gdLst/>
            <a:ahLst/>
            <a:cxnLst/>
            <a:rect l="l" t="t" r="r" b="b"/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4288">
            <a:solidFill>
              <a:srgbClr val="2471A3"/>
            </a:solidFill>
            <a:custDash>
              <a:ds d="266666" sp="200000"/>
            </a:custDash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Freeform 23"/>
          <p:cNvSpPr/>
          <p:nvPr/>
        </p:nvSpPr>
        <p:spPr>
          <a:xfrm>
            <a:off x="571500" y="3562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71450" y="0"/>
                </a:lnTo>
                <a:cubicBezTo>
                  <a:pt x="266139" y="0"/>
                  <a:pt x="342900" y="76761"/>
                  <a:pt x="342900" y="171450"/>
                </a:cubicBezTo>
                <a:lnTo>
                  <a:pt x="342900" y="171450"/>
                </a:lnTo>
                <a:cubicBezTo>
                  <a:pt x="342900" y="266139"/>
                  <a:pt x="266139" y="342900"/>
                  <a:pt x="1714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68873" y="36452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0608" y="3577114"/>
            <a:ext cx="352249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Levenberg–Marquardt Least Squares</a:t>
            </a:r>
          </a:p>
        </p:txBody>
      </p:sp>
      <p:pic>
        <p:nvPicPr>
          <p:cNvPr id="26" name="Imag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790950"/>
            <a:ext cx="3143250" cy="685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53465" y="4458652"/>
            <a:ext cx="59154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SciPy least_squares; nodes + weights pre-computed, reused across iterations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743450"/>
            <a:ext cx="5429250" cy="838200"/>
          </a:xfrm>
          <a:custGeom>
            <a:avLst/>
            <a:gdLst/>
            <a:ahLst/>
            <a:cxnLst/>
            <a:rect l="l" t="t" r="r" b="b"/>
            <a:pathLst>
              <a:path w="5429250" h="83820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62000"/>
                </a:lnTo>
                <a:cubicBezTo>
                  <a:pt x="5429250" y="804084"/>
                  <a:pt x="5395134" y="838200"/>
                  <a:pt x="5353050" y="838200"/>
                </a:cubicBezTo>
                <a:lnTo>
                  <a:pt x="76200" y="838200"/>
                </a:lnTo>
                <a:cubicBezTo>
                  <a:pt x="34116" y="838200"/>
                  <a:pt x="0" y="804084"/>
                  <a:pt x="0" y="762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Freeform 29"/>
          <p:cNvSpPr/>
          <p:nvPr/>
        </p:nvSpPr>
        <p:spPr>
          <a:xfrm>
            <a:off x="571500" y="4743450"/>
            <a:ext cx="47625" cy="838200"/>
          </a:xfrm>
          <a:custGeom>
            <a:avLst/>
            <a:gdLst/>
            <a:ahLst/>
            <a:cxnLst/>
            <a:rect l="l" t="t" r="r" b="b"/>
            <a:pathLst>
              <a:path w="47625" h="8382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819150"/>
                </a:lnTo>
                <a:cubicBezTo>
                  <a:pt x="47625" y="829671"/>
                  <a:pt x="39096" y="838200"/>
                  <a:pt x="28575" y="838200"/>
                </a:cubicBezTo>
                <a:lnTo>
                  <a:pt x="19050" y="838200"/>
                </a:lnTo>
                <a:cubicBezTo>
                  <a:pt x="8529" y="838200"/>
                  <a:pt x="0" y="829671"/>
                  <a:pt x="0" y="819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46760" y="48234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L-shaped integration path (see figure →)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7712" y="5041106"/>
            <a:ext cx="48345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Each SC integral uses an L-path: horizontal leg at Im ζ = 0.5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7712" y="5212556"/>
            <a:ext cx="4095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(above all pre-vertices), then vertical to target.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5392102"/>
            <a:ext cx="4420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Both legs stay strictly above ℝ → never cross branch cuts.</a:t>
            </a:r>
          </a:p>
        </p:txBody>
      </p:sp>
      <p:sp>
        <p:nvSpPr>
          <p:cNvPr id="34" name="Freeform 34"/>
          <p:cNvSpPr/>
          <p:nvPr/>
        </p:nvSpPr>
        <p:spPr>
          <a:xfrm>
            <a:off x="571500" y="5695950"/>
            <a:ext cx="5429250" cy="628650"/>
          </a:xfrm>
          <a:custGeom>
            <a:avLst/>
            <a:gdLst/>
            <a:ahLst/>
            <a:cxnLst/>
            <a:rect l="l" t="t" r="r" b="b"/>
            <a:pathLst>
              <a:path w="5429250" h="6286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552450"/>
                </a:lnTo>
                <a:cubicBezTo>
                  <a:pt x="5429250" y="594534"/>
                  <a:pt x="5395134" y="628650"/>
                  <a:pt x="5353050" y="628650"/>
                </a:cubicBezTo>
                <a:lnTo>
                  <a:pt x="76200" y="628650"/>
                </a:lnTo>
                <a:cubicBezTo>
                  <a:pt x="34116" y="628650"/>
                  <a:pt x="0" y="594534"/>
                  <a:pt x="0" y="5524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Freeform 35"/>
          <p:cNvSpPr/>
          <p:nvPr/>
        </p:nvSpPr>
        <p:spPr>
          <a:xfrm>
            <a:off x="571500" y="5695950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09600"/>
                </a:lnTo>
                <a:cubicBezTo>
                  <a:pt x="47625" y="620121"/>
                  <a:pt x="39096" y="628650"/>
                  <a:pt x="28575" y="628650"/>
                </a:cubicBezTo>
                <a:lnTo>
                  <a:pt x="19050" y="628650"/>
                </a:lnTo>
                <a:cubicBezTo>
                  <a:pt x="8529" y="628650"/>
                  <a:pt x="0" y="620121"/>
                  <a:pt x="0" y="6096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746760" y="5775960"/>
            <a:ext cx="1824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Recovering A, C ∈ ℂ: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7712" y="5993606"/>
            <a:ext cx="61818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Overdetermined system A + C·Ik = wk; least-squares via numpy.linalg.lstsq.</a:t>
            </a:r>
          </a:p>
        </p:txBody>
      </p:sp>
      <p:sp>
        <p:nvSpPr>
          <p:cNvPr id="38" name="Line 38"/>
          <p:cNvSpPr/>
          <p:nvPr/>
        </p:nvSpPr>
        <p:spPr>
          <a:xfrm>
            <a:off x="6238875" y="876300"/>
            <a:ext cx="9525" cy="5410200"/>
          </a:xfrm>
          <a:custGeom>
            <a:avLst/>
            <a:gdLst/>
            <a:ahLst/>
            <a:cxnLst/>
            <a:rect l="l" t="t" r="r" b="b"/>
            <a:pathLst>
              <a:path w="9525" h="5410200">
                <a:moveTo>
                  <a:pt x="0" y="0"/>
                </a:moveTo>
                <a:lnTo>
                  <a:pt x="0" y="541020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6366510" y="965835"/>
            <a:ext cx="3296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L-shaped path avoiding branch cuts:</a:t>
            </a:r>
          </a:p>
        </p:txBody>
      </p:sp>
      <p:pic>
        <p:nvPicPr>
          <p:cNvPr id="40" name="Imag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642110"/>
            <a:ext cx="5286375" cy="3117532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6971395" y="5238274"/>
            <a:ext cx="40404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Red markers on ℝ: pre-vertices ζk (branch cut sources).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33870" y="5390674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Blue square: reference point ζref = 0.5i.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67866" y="5543074"/>
            <a:ext cx="1847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Green star: target ζ in ℍ.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34833" y="5714524"/>
            <a:ext cx="35135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Horizontal then vertical — no branch cut crossing.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415088" y="5995988"/>
            <a:ext cx="200025" cy="200025"/>
            <a:chOff x="6415088" y="5995988"/>
            <a:chExt cx="200025" cy="200025"/>
          </a:xfrm>
        </p:grpSpPr>
        <p:sp>
          <p:nvSpPr>
            <p:cNvPr id="45" name="Freeform 45"/>
            <p:cNvSpPr/>
            <p:nvPr/>
          </p:nvSpPr>
          <p:spPr>
            <a:xfrm>
              <a:off x="6437312" y="6018212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11112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144462" y="0"/>
                  </a:lnTo>
                  <a:cubicBezTo>
                    <a:pt x="150600" y="0"/>
                    <a:pt x="155575" y="4975"/>
                    <a:pt x="155575" y="11112"/>
                  </a:cubicBezTo>
                  <a:lnTo>
                    <a:pt x="155575" y="144462"/>
                  </a:lnTo>
                  <a:cubicBezTo>
                    <a:pt x="155575" y="150600"/>
                    <a:pt x="150600" y="155575"/>
                    <a:pt x="144462" y="155575"/>
                  </a:cubicBezTo>
                  <a:lnTo>
                    <a:pt x="11112" y="155575"/>
                  </a:lnTo>
                  <a:cubicBezTo>
                    <a:pt x="4975" y="155575"/>
                    <a:pt x="0" y="150600"/>
                    <a:pt x="0" y="144462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6481762" y="6062662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6415088" y="60737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15088" y="61182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6492875" y="59959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6537325" y="59959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6592888" y="60737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6592888" y="61182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6537325" y="61737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6492875" y="61737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711315" y="6039802"/>
            <a:ext cx="34771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471A3"/>
                </a:solidFill>
                <a:latin typeface="Times New Roman"/>
                <a:ea typeface="SimSun"/>
                <a:cs typeface="Times New Roman"/>
              </a:rPr>
              <a:t>Vectorised GL + LM: &lt;1s convergence for n = 12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Box 58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5330" y="230505"/>
            <a:ext cx="84263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Levenberg–Marquardt Solver &amp; Rectangle Verification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519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28522" y="5395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10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904875"/>
            <a:ext cx="8763000" cy="742950"/>
          </a:xfrm>
          <a:custGeom>
            <a:avLst/>
            <a:gdLst/>
            <a:ahLst/>
            <a:cxnLst/>
            <a:rect l="l" t="t" r="r" b="b"/>
            <a:pathLst>
              <a:path w="8763000" h="742950">
                <a:moveTo>
                  <a:pt x="66675" y="0"/>
                </a:moveTo>
                <a:lnTo>
                  <a:pt x="8696325" y="0"/>
                </a:lnTo>
                <a:cubicBezTo>
                  <a:pt x="8733149" y="0"/>
                  <a:pt x="8763000" y="29851"/>
                  <a:pt x="8763000" y="66675"/>
                </a:cubicBezTo>
                <a:lnTo>
                  <a:pt x="8763000" y="676275"/>
                </a:lnTo>
                <a:cubicBezTo>
                  <a:pt x="8763000" y="713099"/>
                  <a:pt x="8733149" y="742950"/>
                  <a:pt x="8696325" y="742950"/>
                </a:cubicBezTo>
                <a:lnTo>
                  <a:pt x="66675" y="742950"/>
                </a:lnTo>
                <a:cubicBezTo>
                  <a:pt x="29851" y="742950"/>
                  <a:pt x="0" y="713099"/>
                  <a:pt x="0" y="6762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571500" y="904875"/>
            <a:ext cx="47625" cy="742950"/>
          </a:xfrm>
          <a:custGeom>
            <a:avLst/>
            <a:gdLst/>
            <a:ahLst/>
            <a:cxnLst/>
            <a:rect l="l" t="t" r="r" b="b"/>
            <a:pathLst>
              <a:path w="47625" h="7429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723900"/>
                </a:lnTo>
                <a:cubicBezTo>
                  <a:pt x="47625" y="734421"/>
                  <a:pt x="39096" y="742950"/>
                  <a:pt x="28575" y="742950"/>
                </a:cubicBezTo>
                <a:lnTo>
                  <a:pt x="19050" y="742950"/>
                </a:lnTo>
                <a:cubicBezTo>
                  <a:pt x="8529" y="742950"/>
                  <a:pt x="0" y="734421"/>
                  <a:pt x="0" y="7239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45808" y="967264"/>
            <a:ext cx="13619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LM Objective: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914400"/>
            <a:ext cx="2447925" cy="762000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571500" y="1590675"/>
            <a:ext cx="2571750" cy="1028700"/>
          </a:xfrm>
          <a:custGeom>
            <a:avLst/>
            <a:gdLst/>
            <a:ahLst/>
            <a:cxnLst/>
            <a:rect l="l" t="t" r="r" b="b"/>
            <a:pathLst>
              <a:path w="2571750" h="10287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952500"/>
                </a:lnTo>
                <a:cubicBezTo>
                  <a:pt x="2571750" y="994584"/>
                  <a:pt x="2537634" y="1028700"/>
                  <a:pt x="249555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Freeform 15"/>
          <p:cNvSpPr/>
          <p:nvPr/>
        </p:nvSpPr>
        <p:spPr>
          <a:xfrm>
            <a:off x="571500" y="1590675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087245" y="1753552"/>
            <a:ext cx="15402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Exact pre-vertex 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1033" y="1983105"/>
            <a:ext cx="12126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0.94281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86125" y="1590675"/>
            <a:ext cx="2571750" cy="1028700"/>
          </a:xfrm>
          <a:custGeom>
            <a:avLst/>
            <a:gdLst/>
            <a:ahLst/>
            <a:cxnLst/>
            <a:rect l="l" t="t" r="r" b="b"/>
            <a:pathLst>
              <a:path w="2571750" h="10287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952500"/>
                </a:lnTo>
                <a:cubicBezTo>
                  <a:pt x="2571750" y="994584"/>
                  <a:pt x="2537634" y="1028700"/>
                  <a:pt x="249555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Freeform 20"/>
          <p:cNvSpPr/>
          <p:nvPr/>
        </p:nvSpPr>
        <p:spPr>
          <a:xfrm>
            <a:off x="3286125" y="1590675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3874329" y="1753552"/>
            <a:ext cx="13953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471A3"/>
                </a:solidFill>
                <a:latin typeface="Georgia"/>
                <a:ea typeface="SimSun"/>
                <a:cs typeface="Georgia"/>
              </a:rPr>
              <a:t>Recovered s (LM)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25403" y="1983105"/>
            <a:ext cx="12931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0.94296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87748" y="2353628"/>
            <a:ext cx="13685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softmax + GL + LM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00750" y="1590675"/>
            <a:ext cx="2571750" cy="1028700"/>
          </a:xfrm>
          <a:custGeom>
            <a:avLst/>
            <a:gdLst/>
            <a:ahLst/>
            <a:cxnLst/>
            <a:rect l="l" t="t" r="r" b="b"/>
            <a:pathLst>
              <a:path w="2571750" h="10287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952500"/>
                </a:lnTo>
                <a:cubicBezTo>
                  <a:pt x="2571750" y="994584"/>
                  <a:pt x="2537634" y="1028700"/>
                  <a:pt x="2495550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Freeform 25"/>
          <p:cNvSpPr/>
          <p:nvPr/>
        </p:nvSpPr>
        <p:spPr>
          <a:xfrm>
            <a:off x="6000750" y="1590675"/>
            <a:ext cx="2571750" cy="47625"/>
          </a:xfrm>
          <a:custGeom>
            <a:avLst/>
            <a:gdLst/>
            <a:ahLst/>
            <a:cxnLst/>
            <a:rect l="l" t="t" r="r" b="b"/>
            <a:pathLst>
              <a:path w="2571750" h="47625">
                <a:moveTo>
                  <a:pt x="19050" y="0"/>
                </a:moveTo>
                <a:lnTo>
                  <a:pt x="2552700" y="0"/>
                </a:lnTo>
                <a:cubicBezTo>
                  <a:pt x="2563221" y="0"/>
                  <a:pt x="2571750" y="8529"/>
                  <a:pt x="2571750" y="19050"/>
                </a:cubicBezTo>
                <a:lnTo>
                  <a:pt x="2571750" y="28575"/>
                </a:lnTo>
                <a:cubicBezTo>
                  <a:pt x="2571750" y="39096"/>
                  <a:pt x="2563221" y="47625"/>
                  <a:pt x="255270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6532597" y="1753552"/>
            <a:ext cx="1508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7AE60"/>
                </a:solidFill>
                <a:latin typeface="Georgia"/>
                <a:ea typeface="SimSun"/>
                <a:cs typeface="Georgia"/>
              </a:rPr>
              <a:t>Absolute Error |Δs|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31977" y="1983105"/>
            <a:ext cx="13092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1.5×10⁻⁴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83525" y="2353628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0.016% relative error</a:t>
            </a:r>
          </a:p>
        </p:txBody>
      </p:sp>
      <p:sp>
        <p:nvSpPr>
          <p:cNvPr id="29" name="Freeform 29"/>
          <p:cNvSpPr/>
          <p:nvPr/>
        </p:nvSpPr>
        <p:spPr>
          <a:xfrm>
            <a:off x="8715375" y="1590675"/>
            <a:ext cx="2905125" cy="1028700"/>
          </a:xfrm>
          <a:custGeom>
            <a:avLst/>
            <a:gdLst/>
            <a:ahLst/>
            <a:cxnLst/>
            <a:rect l="l" t="t" r="r" b="b"/>
            <a:pathLst>
              <a:path w="2905125" h="1028700">
                <a:moveTo>
                  <a:pt x="76200" y="0"/>
                </a:moveTo>
                <a:lnTo>
                  <a:pt x="2828925" y="0"/>
                </a:lnTo>
                <a:cubicBezTo>
                  <a:pt x="2871009" y="0"/>
                  <a:pt x="2905125" y="34116"/>
                  <a:pt x="2905125" y="76200"/>
                </a:cubicBezTo>
                <a:lnTo>
                  <a:pt x="2905125" y="952500"/>
                </a:lnTo>
                <a:cubicBezTo>
                  <a:pt x="2905125" y="994584"/>
                  <a:pt x="2871009" y="1028700"/>
                  <a:pt x="2828925" y="1028700"/>
                </a:cubicBezTo>
                <a:lnTo>
                  <a:pt x="76200" y="1028700"/>
                </a:lnTo>
                <a:cubicBezTo>
                  <a:pt x="34116" y="1028700"/>
                  <a:pt x="0" y="994584"/>
                  <a:pt x="0" y="952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9473555" y="1753552"/>
            <a:ext cx="13792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Final Residual ‖r‖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45394" y="1983105"/>
            <a:ext cx="10355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7×10⁻⁵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42189" y="2353628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AFAF8">
                    <a:alpha val="75000"/>
                  </a:srgbClr>
                </a:solidFill>
                <a:latin typeface="Times New Roman"/>
                <a:ea typeface="SimSun"/>
                <a:cs typeface="Times New Roman"/>
              </a:rPr>
              <a:t>floor: O(N⁻¹) GL near endpoints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7336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Freeform 34"/>
          <p:cNvSpPr/>
          <p:nvPr/>
        </p:nvSpPr>
        <p:spPr>
          <a:xfrm>
            <a:off x="571500" y="2733675"/>
            <a:ext cx="47625" cy="381000"/>
          </a:xfrm>
          <a:custGeom>
            <a:avLst/>
            <a:gdLst/>
            <a:ahLst/>
            <a:cxnLst/>
            <a:rect l="l" t="t" r="r" b="b"/>
            <a:pathLst>
              <a:path w="47625" h="381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361950"/>
                </a:lnTo>
                <a:cubicBezTo>
                  <a:pt x="47625" y="372471"/>
                  <a:pt x="39096" y="381000"/>
                  <a:pt x="28575" y="381000"/>
                </a:cubicBezTo>
                <a:lnTo>
                  <a:pt x="19050" y="381000"/>
                </a:lnTo>
                <a:cubicBezTo>
                  <a:pt x="8529" y="381000"/>
                  <a:pt x="0" y="372471"/>
                  <a:pt x="0" y="361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747712" y="2840831"/>
            <a:ext cx="117682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Residual floor arises from O(N⁻¹) GL quadrature accuracy near branch-point endpoints — Duffy substitution would push this to machine precision.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40707" y="3193256"/>
            <a:ext cx="7110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5D6D7E"/>
                </a:solidFill>
                <a:latin typeface="Georgia"/>
                <a:ea typeface="SimSun"/>
                <a:cs typeface="Georgia"/>
              </a:rPr>
              <a:t>Rectangle test (aspect ratio m = 2): SC-recovered pre-vertices vs. analytic values</a:t>
            </a:r>
          </a:p>
        </p:txBody>
      </p:sp>
      <p:pic>
        <p:nvPicPr>
          <p:cNvPr id="37" name="Imag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960" y="3409950"/>
            <a:ext cx="7499032" cy="2952750"/>
          </a:xfrm>
          <a:prstGeom prst="rect">
            <a:avLst/>
          </a:prstGeom>
        </p:spPr>
      </p:pic>
      <p:sp>
        <p:nvSpPr>
          <p:cNvPr id="38" name="Rectangle 38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14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4378" y="222409"/>
            <a:ext cx="961121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Urban Obstacle Flow: Milne-Thomson in the Boulder Polygon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519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645" y="53959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11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10" y="838200"/>
            <a:ext cx="5935028" cy="4648200"/>
          </a:xfrm>
          <a:prstGeom prst="rect">
            <a:avLst/>
          </a:prstGeom>
        </p:spPr>
      </p:pic>
      <p:sp>
        <p:nvSpPr>
          <p:cNvPr id="10" name="Line 10"/>
          <p:cNvSpPr/>
          <p:nvPr/>
        </p:nvSpPr>
        <p:spPr>
          <a:xfrm>
            <a:off x="7581900" y="838200"/>
            <a:ext cx="9525" cy="4648200"/>
          </a:xfrm>
          <a:custGeom>
            <a:avLst/>
            <a:gdLst/>
            <a:ahLst/>
            <a:cxnLst/>
            <a:rect l="l" t="t" r="r" b="b"/>
            <a:pathLst>
              <a:path w="9525" h="4648200">
                <a:moveTo>
                  <a:pt x="0" y="0"/>
                </a:moveTo>
                <a:lnTo>
                  <a:pt x="0" y="464820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645244" y="945356"/>
            <a:ext cx="25215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Pre-vertex clustering (ℍ → Ω)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885950"/>
            <a:ext cx="4114800" cy="1848802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683818" y="4514374"/>
            <a:ext cx="2822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· Pre-vertices cluster on western flank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3818" y="4685824"/>
            <a:ext cx="329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· Reflects long western edge of Boulder County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3818" y="4857274"/>
            <a:ext cx="39549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· Conformal modulus constraint — not numerical artifact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3818" y="5028724"/>
            <a:ext cx="37484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· Error O((a/Im ζ₀)²) — small obstacle approximation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83818" y="5200174"/>
            <a:ext cx="2894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· Future: exact doubly-connected SC map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7975" y="5490210"/>
            <a:ext cx="4585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(a) Streamlines around downtown Boulder obstacle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70901" y="5677852"/>
            <a:ext cx="4259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Obstacle = min-enclosing circle of downtown Boulder in 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152" y="5830252"/>
            <a:ext cx="556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Streamlines deflect around obstacle; ψ = 0 on ∂Ω and ∂D enforced exactly.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6143625"/>
            <a:ext cx="11049000" cy="285750"/>
          </a:xfrm>
          <a:custGeom>
            <a:avLst/>
            <a:gdLst/>
            <a:ahLst/>
            <a:cxnLst/>
            <a:rect l="l" t="t" r="r" b="b"/>
            <a:pathLst>
              <a:path w="11049000" h="2857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228600"/>
                </a:lnTo>
                <a:cubicBezTo>
                  <a:pt x="11049000" y="260163"/>
                  <a:pt x="11023413" y="285750"/>
                  <a:pt x="109918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970761" y="6203156"/>
            <a:ext cx="102504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Milne-Thomson + method of images: two boundary conditions satisfied simultaneously, zero per-point Newton iterations.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27710" y="194310"/>
            <a:ext cx="23665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Conclusions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9147" y="380524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Congyuan Zheng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28522" y="5586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40000"/>
                  </a:srgbClr>
                </a:solidFill>
                <a:latin typeface="Times New Roman"/>
                <a:ea typeface="SimSun"/>
                <a:cs typeface="Times New Roman"/>
              </a:rPr>
              <a:t>12 / 12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62000"/>
            <a:ext cx="12192000" cy="285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02870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85800"/>
                </a:lnTo>
                <a:cubicBezTo>
                  <a:pt x="11049000" y="727884"/>
                  <a:pt x="11014884" y="762000"/>
                  <a:pt x="10972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reeform 10"/>
          <p:cNvSpPr/>
          <p:nvPr/>
        </p:nvSpPr>
        <p:spPr>
          <a:xfrm>
            <a:off x="571500" y="1028700"/>
            <a:ext cx="57150" cy="762000"/>
          </a:xfrm>
          <a:custGeom>
            <a:avLst/>
            <a:gdLst/>
            <a:ahLst/>
            <a:cxnLst/>
            <a:rect l="l" t="t" r="r" b="b"/>
            <a:pathLst>
              <a:path w="57150" h="762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33425"/>
                </a:lnTo>
                <a:cubicBezTo>
                  <a:pt x="57150" y="749207"/>
                  <a:pt x="44357" y="762000"/>
                  <a:pt x="28575" y="762000"/>
                </a:cubicBezTo>
                <a:lnTo>
                  <a:pt x="28575" y="762000"/>
                </a:lnTo>
                <a:cubicBezTo>
                  <a:pt x="12793" y="762000"/>
                  <a:pt x="0" y="749207"/>
                  <a:pt x="0" y="733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76288" y="1198562"/>
            <a:ext cx="188912" cy="155575"/>
            <a:chOff x="776288" y="1198562"/>
            <a:chExt cx="188912" cy="155575"/>
          </a:xfrm>
        </p:grpSpPr>
        <p:sp>
          <p:nvSpPr>
            <p:cNvPr id="11" name="Freeform 11"/>
            <p:cNvSpPr/>
            <p:nvPr/>
          </p:nvSpPr>
          <p:spPr>
            <a:xfrm>
              <a:off x="776288" y="1198562"/>
              <a:ext cx="177800" cy="155575"/>
            </a:xfrm>
            <a:custGeom>
              <a:avLst/>
              <a:gdLst/>
              <a:ahLst/>
              <a:cxnLst/>
              <a:rect l="l" t="t" r="r" b="b"/>
              <a:pathLst>
                <a:path w="177800" h="155575">
                  <a:moveTo>
                    <a:pt x="177800" y="0"/>
                  </a:moveTo>
                  <a:lnTo>
                    <a:pt x="100012" y="0"/>
                  </a:lnTo>
                  <a:lnTo>
                    <a:pt x="55562" y="155575"/>
                  </a:lnTo>
                  <a:lnTo>
                    <a:pt x="22225" y="88900"/>
                  </a:lnTo>
                  <a:lnTo>
                    <a:pt x="0" y="88900"/>
                  </a:lnTo>
                </a:path>
              </a:pathLst>
            </a:custGeom>
            <a:noFill/>
            <a:ln w="19050">
              <a:solidFill>
                <a:srgbClr val="1B3A6B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98525" y="1287462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1B3A6B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898525" y="1287462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66675"/>
                  </a:move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1B3A6B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06805" y="1149668"/>
            <a:ext cx="20838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Conformal Reduction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8710" y="1413510"/>
            <a:ext cx="80661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The SC map converts Laplace's equation on an arbitrary polygon into an analytic problem in ℍ 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8710" y="1584960"/>
            <a:ext cx="69707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boundary conditions satisfied automatically, with no per-pixel Newton iteration.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1933575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85800"/>
                </a:lnTo>
                <a:cubicBezTo>
                  <a:pt x="11049000" y="727884"/>
                  <a:pt x="11014884" y="762000"/>
                  <a:pt x="10972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Freeform 19"/>
          <p:cNvSpPr/>
          <p:nvPr/>
        </p:nvSpPr>
        <p:spPr>
          <a:xfrm>
            <a:off x="571500" y="1933575"/>
            <a:ext cx="57150" cy="762000"/>
          </a:xfrm>
          <a:custGeom>
            <a:avLst/>
            <a:gdLst/>
            <a:ahLst/>
            <a:cxnLst/>
            <a:rect l="l" t="t" r="r" b="b"/>
            <a:pathLst>
              <a:path w="57150" h="762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33425"/>
                </a:lnTo>
                <a:cubicBezTo>
                  <a:pt x="57150" y="749207"/>
                  <a:pt x="44357" y="762000"/>
                  <a:pt x="28575" y="762000"/>
                </a:cubicBezTo>
                <a:lnTo>
                  <a:pt x="28575" y="762000"/>
                </a:lnTo>
                <a:cubicBezTo>
                  <a:pt x="12793" y="762000"/>
                  <a:pt x="0" y="749207"/>
                  <a:pt x="0" y="733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471A3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776288" y="2081212"/>
            <a:ext cx="200025" cy="200025"/>
            <a:chOff x="776288" y="2081212"/>
            <a:chExt cx="200025" cy="200025"/>
          </a:xfrm>
        </p:grpSpPr>
        <p:sp>
          <p:nvSpPr>
            <p:cNvPr id="20" name="Freeform 20"/>
            <p:cNvSpPr/>
            <p:nvPr/>
          </p:nvSpPr>
          <p:spPr>
            <a:xfrm>
              <a:off x="798512" y="2103438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11112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144463" y="0"/>
                  </a:lnTo>
                  <a:cubicBezTo>
                    <a:pt x="150600" y="0"/>
                    <a:pt x="155575" y="4975"/>
                    <a:pt x="155575" y="11112"/>
                  </a:cubicBezTo>
                  <a:lnTo>
                    <a:pt x="155575" y="144462"/>
                  </a:lnTo>
                  <a:cubicBezTo>
                    <a:pt x="155575" y="150600"/>
                    <a:pt x="150600" y="155575"/>
                    <a:pt x="144463" y="155575"/>
                  </a:cubicBezTo>
                  <a:lnTo>
                    <a:pt x="11113" y="155575"/>
                  </a:lnTo>
                  <a:cubicBezTo>
                    <a:pt x="4975" y="155575"/>
                    <a:pt x="0" y="150600"/>
                    <a:pt x="0" y="144462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42962" y="21478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776288" y="2159000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776288" y="2203450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54075" y="2081212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898525" y="2081212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954088" y="2159000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54088" y="2203450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898525" y="2259012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54075" y="2259012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71A3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06805" y="2054542"/>
            <a:ext cx="25600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Robust Numerical Pipeline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8710" y="2318385"/>
            <a:ext cx="78383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Softmax reparameterisation + Gauss–Legendre quadrature (N=500) + Levenberg–Marquardt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8710" y="2489835"/>
            <a:ext cx="49202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recovers n=12 pre-vertices in &lt;1 s; residual ‖r‖ ≈ 7×10⁻⁵.</a:t>
            </a:r>
          </a:p>
        </p:txBody>
      </p:sp>
      <p:sp>
        <p:nvSpPr>
          <p:cNvPr id="34" name="Freeform 34"/>
          <p:cNvSpPr/>
          <p:nvPr/>
        </p:nvSpPr>
        <p:spPr>
          <a:xfrm>
            <a:off x="571500" y="28384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85800"/>
                </a:lnTo>
                <a:cubicBezTo>
                  <a:pt x="11049000" y="727884"/>
                  <a:pt x="11014884" y="762000"/>
                  <a:pt x="10972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Freeform 35"/>
          <p:cNvSpPr/>
          <p:nvPr/>
        </p:nvSpPr>
        <p:spPr>
          <a:xfrm>
            <a:off x="571500" y="2838450"/>
            <a:ext cx="57150" cy="762000"/>
          </a:xfrm>
          <a:custGeom>
            <a:avLst/>
            <a:gdLst/>
            <a:ahLst/>
            <a:cxnLst/>
            <a:rect l="l" t="t" r="r" b="b"/>
            <a:pathLst>
              <a:path w="57150" h="762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33425"/>
                </a:lnTo>
                <a:cubicBezTo>
                  <a:pt x="57150" y="749207"/>
                  <a:pt x="44357" y="762000"/>
                  <a:pt x="28575" y="762000"/>
                </a:cubicBezTo>
                <a:lnTo>
                  <a:pt x="28575" y="762000"/>
                </a:lnTo>
                <a:cubicBezTo>
                  <a:pt x="12793" y="762000"/>
                  <a:pt x="0" y="749207"/>
                  <a:pt x="0" y="733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Freeform 36"/>
          <p:cNvSpPr/>
          <p:nvPr/>
        </p:nvSpPr>
        <p:spPr>
          <a:xfrm>
            <a:off x="776043" y="2997200"/>
            <a:ext cx="200269" cy="177800"/>
          </a:xfrm>
          <a:custGeom>
            <a:avLst/>
            <a:gdLst/>
            <a:ahLst/>
            <a:cxnLst/>
            <a:rect l="l" t="t" r="r" b="b"/>
            <a:pathLst>
              <a:path w="200269" h="177800">
                <a:moveTo>
                  <a:pt x="200269" y="88900"/>
                </a:moveTo>
                <a:lnTo>
                  <a:pt x="178044" y="88900"/>
                </a:lnTo>
                <a:cubicBezTo>
                  <a:pt x="168110" y="88900"/>
                  <a:pt x="159575" y="79377"/>
                  <a:pt x="158475" y="66675"/>
                </a:cubicBezTo>
                <a:cubicBezTo>
                  <a:pt x="155186" y="28337"/>
                  <a:pt x="150152" y="0"/>
                  <a:pt x="127927" y="0"/>
                </a:cubicBezTo>
                <a:cubicBezTo>
                  <a:pt x="105702" y="0"/>
                  <a:pt x="100146" y="39805"/>
                  <a:pt x="100146" y="88900"/>
                </a:cubicBezTo>
                <a:cubicBezTo>
                  <a:pt x="100146" y="137995"/>
                  <a:pt x="94590" y="177800"/>
                  <a:pt x="72365" y="177800"/>
                </a:cubicBezTo>
                <a:cubicBezTo>
                  <a:pt x="50140" y="177800"/>
                  <a:pt x="45117" y="149496"/>
                  <a:pt x="41816" y="111125"/>
                </a:cubicBezTo>
                <a:cubicBezTo>
                  <a:pt x="40705" y="98379"/>
                  <a:pt x="32182" y="88900"/>
                  <a:pt x="22225" y="88900"/>
                </a:cubicBezTo>
                <a:lnTo>
                  <a:pt x="0" y="88900"/>
                </a:lnTo>
              </a:path>
            </a:pathLst>
          </a:custGeom>
          <a:noFill/>
          <a:ln w="19050">
            <a:solidFill>
              <a:srgbClr val="C0392B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1106805" y="2959418"/>
            <a:ext cx="1286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Flow Results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8710" y="3223260"/>
            <a:ext cx="79259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Uniform flow: conformal grid confirms orthogonality throughout Ω. Milne-Thomson + method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8710" y="3394710"/>
            <a:ext cx="66114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of images adds a circular urban obstacle with ψ = const on ∂D and ψ = 0 on ∂Ω.</a:t>
            </a:r>
          </a:p>
        </p:txBody>
      </p:sp>
      <p:sp>
        <p:nvSpPr>
          <p:cNvPr id="40" name="Freeform 40"/>
          <p:cNvSpPr/>
          <p:nvPr/>
        </p:nvSpPr>
        <p:spPr>
          <a:xfrm>
            <a:off x="571500" y="3743325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85800"/>
                </a:lnTo>
                <a:cubicBezTo>
                  <a:pt x="11049000" y="727884"/>
                  <a:pt x="11014884" y="762000"/>
                  <a:pt x="10972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Freeform 41"/>
          <p:cNvSpPr/>
          <p:nvPr/>
        </p:nvSpPr>
        <p:spPr>
          <a:xfrm>
            <a:off x="571500" y="3743325"/>
            <a:ext cx="57150" cy="762000"/>
          </a:xfrm>
          <a:custGeom>
            <a:avLst/>
            <a:gdLst/>
            <a:ahLst/>
            <a:cxnLst/>
            <a:rect l="l" t="t" r="r" b="b"/>
            <a:pathLst>
              <a:path w="57150" h="762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33425"/>
                </a:lnTo>
                <a:cubicBezTo>
                  <a:pt x="57150" y="749207"/>
                  <a:pt x="44357" y="762000"/>
                  <a:pt x="28575" y="762000"/>
                </a:cubicBezTo>
                <a:lnTo>
                  <a:pt x="28575" y="762000"/>
                </a:lnTo>
                <a:cubicBezTo>
                  <a:pt x="12793" y="762000"/>
                  <a:pt x="0" y="749207"/>
                  <a:pt x="0" y="733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45" name="Group 45"/>
          <p:cNvGrpSpPr/>
          <p:nvPr/>
        </p:nvGrpSpPr>
        <p:grpSpPr>
          <a:xfrm>
            <a:off x="776288" y="3902075"/>
            <a:ext cx="200025" cy="177800"/>
            <a:chOff x="776288" y="3902075"/>
            <a:chExt cx="200025" cy="177800"/>
          </a:xfrm>
        </p:grpSpPr>
        <p:sp>
          <p:nvSpPr>
            <p:cNvPr id="42" name="Freeform 42"/>
            <p:cNvSpPr/>
            <p:nvPr/>
          </p:nvSpPr>
          <p:spPr>
            <a:xfrm>
              <a:off x="776288" y="3902075"/>
              <a:ext cx="200025" cy="177800"/>
            </a:xfrm>
            <a:custGeom>
              <a:avLst/>
              <a:gdLst/>
              <a:ahLst/>
              <a:cxnLst/>
              <a:rect l="l" t="t" r="r" b="b"/>
              <a:pathLst>
                <a:path w="200025" h="177800">
                  <a:moveTo>
                    <a:pt x="0" y="33338"/>
                  </a:moveTo>
                  <a:lnTo>
                    <a:pt x="66675" y="0"/>
                  </a:lnTo>
                  <a:lnTo>
                    <a:pt x="133350" y="33338"/>
                  </a:lnTo>
                  <a:lnTo>
                    <a:pt x="200025" y="0"/>
                  </a:lnTo>
                  <a:lnTo>
                    <a:pt x="200025" y="144462"/>
                  </a:lnTo>
                  <a:lnTo>
                    <a:pt x="133350" y="177800"/>
                  </a:lnTo>
                  <a:lnTo>
                    <a:pt x="66675" y="144462"/>
                  </a:lnTo>
                  <a:lnTo>
                    <a:pt x="0" y="177800"/>
                  </a:lnTo>
                  <a:lnTo>
                    <a:pt x="0" y="33338"/>
                  </a:lnTo>
                </a:path>
              </a:pathLst>
            </a:custGeom>
            <a:noFill/>
            <a:ln w="19050">
              <a:solidFill>
                <a:srgbClr val="27AE6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2962" y="3902075"/>
              <a:ext cx="9525" cy="144462"/>
            </a:xfrm>
            <a:custGeom>
              <a:avLst/>
              <a:gdLst/>
              <a:ahLst/>
              <a:cxnLst/>
              <a:rect l="l" t="t" r="r" b="b"/>
              <a:pathLst>
                <a:path w="9525" h="144462">
                  <a:moveTo>
                    <a:pt x="0" y="0"/>
                  </a:moveTo>
                  <a:lnTo>
                    <a:pt x="0" y="144462"/>
                  </a:lnTo>
                </a:path>
              </a:pathLst>
            </a:custGeom>
            <a:noFill/>
            <a:ln w="19050">
              <a:solidFill>
                <a:srgbClr val="27AE6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909638" y="3935412"/>
              <a:ext cx="9525" cy="144462"/>
            </a:xfrm>
            <a:custGeom>
              <a:avLst/>
              <a:gdLst/>
              <a:ahLst/>
              <a:cxnLst/>
              <a:rect l="l" t="t" r="r" b="b"/>
              <a:pathLst>
                <a:path w="9525" h="144462">
                  <a:moveTo>
                    <a:pt x="0" y="0"/>
                  </a:moveTo>
                  <a:lnTo>
                    <a:pt x="0" y="144462"/>
                  </a:lnTo>
                </a:path>
              </a:pathLst>
            </a:custGeom>
            <a:noFill/>
            <a:ln w="19050">
              <a:solidFill>
                <a:srgbClr val="27AE60"/>
              </a:solidFill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06805" y="3864292"/>
            <a:ext cx="26842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6B"/>
                </a:solidFill>
                <a:latin typeface="Georgia"/>
                <a:ea typeface="SimSun"/>
                <a:cs typeface="Georgia"/>
              </a:rPr>
              <a:t>Boulder County Application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8710" y="4128135"/>
            <a:ext cx="74352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TIGER/Line 2752-vertex boundary reduced to n=12 by Douglas–Peucker + angle filtering;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08710" y="4299585"/>
            <a:ext cx="74965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Times New Roman"/>
                <a:ea typeface="SimSun"/>
                <a:cs typeface="Times New Roman"/>
              </a:rPr>
              <a:t>dominant geometric features preserved; conformal modulus kept within stable regime.</a:t>
            </a:r>
          </a:p>
        </p:txBody>
      </p:sp>
      <p:sp>
        <p:nvSpPr>
          <p:cNvPr id="49" name="Freeform 49"/>
          <p:cNvSpPr/>
          <p:nvPr/>
        </p:nvSpPr>
        <p:spPr>
          <a:xfrm>
            <a:off x="571500" y="4667250"/>
            <a:ext cx="11049000" cy="685800"/>
          </a:xfrm>
          <a:custGeom>
            <a:avLst/>
            <a:gdLst/>
            <a:ahLst/>
            <a:cxnLst/>
            <a:rect l="l" t="t" r="r" b="b"/>
            <a:pathLst>
              <a:path w="11049000" h="6858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09600"/>
                </a:lnTo>
                <a:cubicBezTo>
                  <a:pt x="11049000" y="651684"/>
                  <a:pt x="11014884" y="685800"/>
                  <a:pt x="10972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Freeform 50"/>
          <p:cNvSpPr/>
          <p:nvPr/>
        </p:nvSpPr>
        <p:spPr>
          <a:xfrm>
            <a:off x="571500" y="4667250"/>
            <a:ext cx="57150" cy="685800"/>
          </a:xfrm>
          <a:custGeom>
            <a:avLst/>
            <a:gdLst/>
            <a:ahLst/>
            <a:cxnLst/>
            <a:rect l="l" t="t" r="r" b="b"/>
            <a:pathLst>
              <a:path w="57150" h="685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657225"/>
                </a:lnTo>
                <a:cubicBezTo>
                  <a:pt x="57150" y="673007"/>
                  <a:pt x="44357" y="685800"/>
                  <a:pt x="28575" y="685800"/>
                </a:cubicBezTo>
                <a:lnTo>
                  <a:pt x="28575" y="685800"/>
                </a:lnTo>
                <a:cubicBezTo>
                  <a:pt x="12793" y="685800"/>
                  <a:pt x="0" y="673007"/>
                  <a:pt x="0" y="657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5D6D7E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746760" y="476631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D6D7E"/>
                </a:solidFill>
                <a:latin typeface="Georgia"/>
                <a:ea typeface="SimSun"/>
                <a:cs typeface="Georgia"/>
              </a:rPr>
              <a:t>Future Directions: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414588" y="4774406"/>
            <a:ext cx="6083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Duffy substitution → near-machine-precision GL at branch-point endpoints;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7712" y="5088731"/>
            <a:ext cx="100923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Times New Roman"/>
                <a:ea typeface="SimSun"/>
                <a:cs typeface="Times New Roman"/>
              </a:rPr>
              <a:t>exact doubly-connected SC map (Schottky–Klein prime function) for obstacle flow without the small-obstacle approximation.</a:t>
            </a:r>
          </a:p>
        </p:txBody>
      </p:sp>
      <p:sp>
        <p:nvSpPr>
          <p:cNvPr id="54" name="Freeform 54"/>
          <p:cNvSpPr/>
          <p:nvPr/>
        </p:nvSpPr>
        <p:spPr>
          <a:xfrm>
            <a:off x="571500" y="5524500"/>
            <a:ext cx="11049000" cy="781050"/>
          </a:xfrm>
          <a:custGeom>
            <a:avLst/>
            <a:gdLst/>
            <a:ahLst/>
            <a:cxnLst/>
            <a:rect l="l" t="t" r="r" b="b"/>
            <a:pathLst>
              <a:path w="11049000" h="7810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04850"/>
                </a:lnTo>
                <a:cubicBezTo>
                  <a:pt x="11049000" y="746934"/>
                  <a:pt x="11014884" y="781050"/>
                  <a:pt x="10972800" y="781050"/>
                </a:cubicBezTo>
                <a:lnTo>
                  <a:pt x="76200" y="781050"/>
                </a:lnTo>
                <a:cubicBezTo>
                  <a:pt x="34116" y="781050"/>
                  <a:pt x="0" y="746934"/>
                  <a:pt x="0" y="704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3066629" y="5664518"/>
            <a:ext cx="60587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AF8"/>
                </a:solidFill>
                <a:latin typeface="Georgia"/>
                <a:ea typeface="SimSun"/>
                <a:cs typeface="Georgia"/>
              </a:rPr>
              <a:t>APPM 4360 — Complex Variables and Applications, Spring 2026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92599" y="5928360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AFAF8">
                    <a:alpha val="85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23604" y="6125528"/>
            <a:ext cx="63447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AFAF8">
                    <a:alpha val="55000"/>
                  </a:srgbClr>
                </a:solidFill>
                <a:latin typeface="Times New Roman"/>
                <a:ea typeface="SimSun"/>
                <a:cs typeface="Times New Roman"/>
              </a:rPr>
              <a:t>Advisor: Prof. James Meiss — Department of Applied Mathematics, University of Colorado Boulder</a:t>
            </a:r>
          </a:p>
        </p:txBody>
      </p:sp>
      <p:sp>
        <p:nvSpPr>
          <p:cNvPr id="58" name="Rectangle 58"/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Box 59"/>
          <p:cNvSpPr txBox="1"/>
          <p:nvPr/>
        </p:nvSpPr>
        <p:spPr>
          <a:xfrm>
            <a:off x="751522" y="6645116"/>
            <a:ext cx="2268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APPM 4360 — Schwarz–Christoffel Flow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800701" y="66451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AFAF8">
                    <a:alpha val="60000"/>
                  </a:srgbClr>
                </a:solidFill>
                <a:latin typeface="Times New Roman"/>
                <a:ea typeface="SimSun"/>
                <a:cs typeface="Times New Roman"/>
              </a:rPr>
              <a:t>Sophia Arany · Congyuan Zheng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3741</Words>
  <Application>Microsoft Office PowerPoint</Application>
  <PresentationFormat>Widescreen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Congyuan Zheng</cp:lastModifiedBy>
  <cp:revision>2</cp:revision>
  <dcterms:created xsi:type="dcterms:W3CDTF">2013-01-27T09:14:16Z</dcterms:created>
  <dcterms:modified xsi:type="dcterms:W3CDTF">2026-04-27T05:36:33Z</dcterms:modified>
  <cp:category/>
</cp:coreProperties>
</file>